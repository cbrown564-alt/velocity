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Atlas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Unaided awareness</c:v>
                  </c:pt>
                  <c:pt idx="1">
                    <c:v>Aided awareness</c:v>
                  </c:pt>
                  <c:pt idx="2">
                    <c:v>Would consider</c:v>
                  </c:pt>
                  <c:pt idx="3">
                    <c:v>Bought in past 3 months</c:v>
                  </c:pt>
                  <c:pt idx="4">
                    <c:v>Preferred brand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36.5</c:v>
                </c:pt>
                <c:pt idx="1">
                  <c:v>72.7</c:v>
                </c:pt>
                <c:pt idx="2">
                  <c:v>37.7</c:v>
                </c:pt>
                <c:pt idx="3">
                  <c:v>14.9</c:v>
                </c:pt>
                <c:pt idx="4">
                  <c:v>19.5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Beacon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Unaided awareness</c:v>
                  </c:pt>
                  <c:pt idx="1">
                    <c:v>Aided awareness</c:v>
                  </c:pt>
                  <c:pt idx="2">
                    <c:v>Would consider</c:v>
                  </c:pt>
                  <c:pt idx="3">
                    <c:v>Bought in past 3 months</c:v>
                  </c:pt>
                  <c:pt idx="4">
                    <c:v>Preferred brand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25.7</c:v>
                </c:pt>
                <c:pt idx="1">
                  <c:v>62.9</c:v>
                </c:pt>
                <c:pt idx="2">
                  <c:v>41.7</c:v>
                </c:pt>
                <c:pt idx="3">
                  <c:v>18.1</c:v>
                </c:pt>
                <c:pt idx="4">
                  <c:v>24.8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Meridian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Unaided awareness</c:v>
                  </c:pt>
                  <c:pt idx="1">
                    <c:v>Aided awareness</c:v>
                  </c:pt>
                  <c:pt idx="2">
                    <c:v>Would consider</c:v>
                  </c:pt>
                  <c:pt idx="3">
                    <c:v>Bought in past 3 months</c:v>
                  </c:pt>
                  <c:pt idx="4">
                    <c:v>Preferred brand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47.4</c:v>
                </c:pt>
                <c:pt idx="1">
                  <c:v>91.2</c:v>
                </c:pt>
                <c:pt idx="2">
                  <c:v>38.5</c:v>
                </c:pt>
                <c:pt idx="3">
                  <c:v>32.4</c:v>
                </c:pt>
                <c:pt idx="4">
                  <c:v>24.9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-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Aided awareness</c:v>
                </c:pt>
              </c:strCache>
            </c:strRef>
          </c:tx>
          <c:spPr>
            <a:solidFill>
              <a:srgbClr val="0F766E"/>
            </a:solidFill>
            <a:ln w="381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W1 Q3 2025</c:v>
                  </c:pt>
                  <c:pt idx="1">
                    <c:v>W2 Q4 2025</c:v>
                  </c:pt>
                  <c:pt idx="2">
                    <c:v>W3 Q1 2026</c:v>
                  </c:pt>
                  <c:pt idx="3">
                    <c:v>W4 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65.9</c:v>
                </c:pt>
                <c:pt idx="1">
                  <c:v>66.2</c:v>
                </c:pt>
                <c:pt idx="2">
                  <c:v>66.8</c:v>
                </c:pt>
                <c:pt idx="3">
                  <c:v>72.7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Unaided awareness</c:v>
                </c:pt>
              </c:strCache>
            </c:strRef>
          </c:tx>
          <c:spPr>
            <a:solidFill>
              <a:srgbClr val="5EB3AA"/>
            </a:solidFill>
            <a:ln w="38100" cap="flat">
              <a:solidFill>
                <a:srgbClr val="5EB3AA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5EB3AA"/>
              </a:solidFill>
              <a:ln w="9525" cap="flat">
                <a:solidFill>
                  <a:srgbClr val="5EB3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W1 Q3 2025</c:v>
                  </c:pt>
                  <c:pt idx="1">
                    <c:v>W2 Q4 2025</c:v>
                  </c:pt>
                  <c:pt idx="2">
                    <c:v>W3 Q1 2026</c:v>
                  </c:pt>
                  <c:pt idx="3">
                    <c:v>W4 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29.1</c:v>
                </c:pt>
                <c:pt idx="1">
                  <c:v>29.9</c:v>
                </c:pt>
                <c:pt idx="2">
                  <c:v>30.8</c:v>
                </c:pt>
                <c:pt idx="3">
                  <c:v>36.5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Beacon</c:v>
                </c:pt>
              </c:strCache>
            </c:strRef>
          </c:tx>
          <c:spPr>
            <a:solidFill>
              <a:srgbClr val="C2410C"/>
            </a:solidFill>
            <a:ln w="38100" cap="flat">
              <a:solidFill>
                <a:srgbClr val="C241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W1 Q3 2025</c:v>
                  </c:pt>
                  <c:pt idx="1">
                    <c:v>W2 Q4 2025</c:v>
                  </c:pt>
                  <c:pt idx="2">
                    <c:v>W3 Q1 2026</c:v>
                  </c:pt>
                  <c:pt idx="3">
                    <c:v>W4 Q2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32.7</c:v>
                </c:pt>
                <c:pt idx="1">
                  <c:v>34.2</c:v>
                </c:pt>
                <c:pt idx="2">
                  <c:v>35.6</c:v>
                </c:pt>
                <c:pt idx="3">
                  <c:v>41.7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Meridian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W1 Q3 2025</c:v>
                  </c:pt>
                  <c:pt idx="1">
                    <c:v>W2 Q4 2025</c:v>
                  </c:pt>
                  <c:pt idx="2">
                    <c:v>W3 Q1 2026</c:v>
                  </c:pt>
                  <c:pt idx="3">
                    <c:v>W4 Q2 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41.6</c:v>
                </c:pt>
                <c:pt idx="1">
                  <c:v>42.3</c:v>
                </c:pt>
                <c:pt idx="2">
                  <c:v>40.8</c:v>
                </c:pt>
                <c:pt idx="3">
                  <c:v>38.5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Atlas</c:v>
                </c:pt>
              </c:strCache>
            </c:strRef>
          </c:tx>
          <c:spPr>
            <a:solidFill>
              <a:srgbClr val="0F766E"/>
            </a:solidFill>
            <a:ln w="381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W1 Q3 2025</c:v>
                  </c:pt>
                  <c:pt idx="1">
                    <c:v>W2 Q4 2025</c:v>
                  </c:pt>
                  <c:pt idx="2">
                    <c:v>W3 Q1 2026</c:v>
                  </c:pt>
                  <c:pt idx="3">
                    <c:v>W4 Q2 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31.7</c:v>
                </c:pt>
                <c:pt idx="1">
                  <c:v>32.5</c:v>
                </c:pt>
                <c:pt idx="2">
                  <c:v>33.2</c:v>
                </c:pt>
                <c:pt idx="3">
                  <c:v>37.7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2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W3 Q1 2026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Beacon ▲</c:v>
                  </c:pt>
                  <c:pt idx="1">
                    <c:v>Solstice</c:v>
                  </c:pt>
                  <c:pt idx="2">
                    <c:v>Atlas</c:v>
                  </c:pt>
                  <c:pt idx="3">
                    <c:v>Cardinal</c:v>
                  </c:pt>
                  <c:pt idx="4">
                    <c:v>Meridian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58.4</c:v>
                </c:pt>
                <c:pt idx="1">
                  <c:v>52.7</c:v>
                </c:pt>
                <c:pt idx="2">
                  <c:v>49.6</c:v>
                </c:pt>
                <c:pt idx="3">
                  <c:v>48.6</c:v>
                </c:pt>
                <c:pt idx="4">
                  <c:v>45.2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W4 Q2 2026</c:v>
                </c:pt>
              </c:strCache>
            </c:strRef>
          </c:tx>
          <c:spPr>
            <a:solidFill>
              <a:srgbClr val="11182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Beacon ▲</c:v>
                  </c:pt>
                  <c:pt idx="1">
                    <c:v>Solstice</c:v>
                  </c:pt>
                  <c:pt idx="2">
                    <c:v>Atlas</c:v>
                  </c:pt>
                  <c:pt idx="3">
                    <c:v>Cardinal</c:v>
                  </c:pt>
                  <c:pt idx="4">
                    <c:v>Meridian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66.2</c:v>
                </c:pt>
                <c:pt idx="1">
                  <c:v>53.8</c:v>
                </c:pt>
                <c:pt idx="2">
                  <c:v>51.8</c:v>
                </c:pt>
                <c:pt idx="3">
                  <c:v>48.4</c:v>
                </c:pt>
                <c:pt idx="4">
                  <c:v>42.3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-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Atlas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Tastes great</c:v>
                  </c:pt>
                  <c:pt idx="1">
                    <c:v>Is a premium brand</c:v>
                  </c:pt>
                  <c:pt idx="2">
                    <c:v>Is widely available</c:v>
                  </c:pt>
                  <c:pt idx="3">
                    <c:v>Is a brand I trust</c:v>
                  </c:pt>
                  <c:pt idx="4">
                    <c:v>Is environmentally sustainable</c:v>
                  </c:pt>
                  <c:pt idx="5">
                    <c:v>Is innovative  (Atlas +6.4 pts ▲)</c:v>
                  </c:pt>
                  <c:pt idx="6">
                    <c:v>Is worth the price</c:v>
                  </c:pt>
                  <c:pt idx="7">
                    <c:v>Is for someone like me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52.8</c:v>
                </c:pt>
                <c:pt idx="1">
                  <c:v>44.9</c:v>
                </c:pt>
                <c:pt idx="2">
                  <c:v>43.3</c:v>
                </c:pt>
                <c:pt idx="3">
                  <c:v>40.1</c:v>
                </c:pt>
                <c:pt idx="4">
                  <c:v>37.9</c:v>
                </c:pt>
                <c:pt idx="5">
                  <c:v>36.3</c:v>
                </c:pt>
                <c:pt idx="6">
                  <c:v>34.9</c:v>
                </c:pt>
                <c:pt idx="7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Beacon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Tastes great</c:v>
                  </c:pt>
                  <c:pt idx="1">
                    <c:v>Is a premium brand</c:v>
                  </c:pt>
                  <c:pt idx="2">
                    <c:v>Is widely available</c:v>
                  </c:pt>
                  <c:pt idx="3">
                    <c:v>Is a brand I trust</c:v>
                  </c:pt>
                  <c:pt idx="4">
                    <c:v>Is environmentally sustainable</c:v>
                  </c:pt>
                  <c:pt idx="5">
                    <c:v>Is innovative  (Atlas +6.4 pts ▲)</c:v>
                  </c:pt>
                  <c:pt idx="6">
                    <c:v>Is worth the price</c:v>
                  </c:pt>
                  <c:pt idx="7">
                    <c:v>Is for someone like me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56.7</c:v>
                </c:pt>
                <c:pt idx="1">
                  <c:v>39.7</c:v>
                </c:pt>
                <c:pt idx="2">
                  <c:v>50</c:v>
                </c:pt>
                <c:pt idx="3">
                  <c:v>44</c:v>
                </c:pt>
                <c:pt idx="4">
                  <c:v>42.7</c:v>
                </c:pt>
                <c:pt idx="5">
                  <c:v>51.3</c:v>
                </c:pt>
                <c:pt idx="6">
                  <c:v>44</c:v>
                </c:pt>
                <c:pt idx="7">
                  <c:v>41.1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Detractors (0–6)</c:v>
                </c:pt>
              </c:strCache>
            </c:strRef>
          </c:tx>
          <c:spPr>
            <a:solidFill>
              <a:srgbClr val="E3B6B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W1 Q3 2025   NPS −8</c:v>
                  </c:pt>
                  <c:pt idx="1">
                    <c:v>W2 Q4 2025   NPS −7</c:v>
                  </c:pt>
                  <c:pt idx="2">
                    <c:v>W3 Q1 2026   NPS −2</c:v>
                  </c:pt>
                  <c:pt idx="3">
                    <c:v>W4 Q2 2026   NPS +7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29.9</c:v>
                </c:pt>
                <c:pt idx="2">
                  <c:v>29.7</c:v>
                </c:pt>
                <c:pt idx="3">
                  <c:v>23.9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Passives (7–8)</c:v>
                </c:pt>
              </c:strCache>
            </c:strRef>
          </c:tx>
          <c:spPr>
            <a:solidFill>
              <a:srgbClr val="D9DDE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W1 Q3 2025   NPS −8</c:v>
                  </c:pt>
                  <c:pt idx="1">
                    <c:v>W2 Q4 2025   NPS −7</c:v>
                  </c:pt>
                  <c:pt idx="2">
                    <c:v>W3 Q1 2026   NPS −2</c:v>
                  </c:pt>
                  <c:pt idx="3">
                    <c:v>W4 Q2 2026   NPS +7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45.8</c:v>
                </c:pt>
                <c:pt idx="1">
                  <c:v>47.1</c:v>
                </c:pt>
                <c:pt idx="2">
                  <c:v>42.9</c:v>
                </c:pt>
                <c:pt idx="3">
                  <c:v>44.8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Promoters (9–10)</c:v>
                </c:pt>
              </c:strCache>
            </c:strRef>
          </c:tx>
          <c:spPr>
            <a:solidFill>
              <a:srgbClr val="5DB8A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W1 Q3 2025   NPS −8</c:v>
                  </c:pt>
                  <c:pt idx="1">
                    <c:v>W2 Q4 2025   NPS −7</c:v>
                  </c:pt>
                  <c:pt idx="2">
                    <c:v>W3 Q1 2026   NPS −2</c:v>
                  </c:pt>
                  <c:pt idx="3">
                    <c:v>W4 Q2 2026   NPS +7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23.2</c:v>
                </c:pt>
                <c:pt idx="1">
                  <c:v>23</c:v>
                </c:pt>
                <c:pt idx="2">
                  <c:v>27.4</c:v>
                </c:pt>
                <c:pt idx="3">
                  <c:v>31.3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separates the current level (large number) from its change since W3. Only changes marked "significant" pass the 95% test. The NPS change is not significant and its base is under 200.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use a common base (all buyers) so bars are comparable across the funnel. Conversion between stages is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Aided 65.9 / 66.2 / 66.8 / 72.7; unaided 29.1 / 29.9 / 30.8 / 36.5 (W1–W4). Only W3→W4 is significant for either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Lines are not labelled at each point because the Atlas and Meridian W4 values overlap; the right-hand panel gives the W4 level and change for each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Conversion = consideration among those aware. Atlas moved +2.2 pts (not significant); Beacon +7.9 pts (significant).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Bases differ by brand (each brand is rated by those aware of it), so the Atlas–Beacon gap partly reflects who knows each brand. Only Atlas “innovative” changed significantly since W3.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are compared across waves only; within-wave differences between groups are in tables T2–T3 (column letters).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Promoters rose and detractors fell steadily over four waves; the trend is consistent but each wave-on-wave step is within sampling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chilled-coffee brand tracker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4 readout · Q2 2026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ready-to-drink chilled coffee buyers per wave · fieldwork 13–26 April 2026 · compared with W1–W3 (July 2025 to January 2026)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output for Velocity Track B. Synthetic data; brands and figures are fictitious.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widened its reach this quarter; Beacon turned more of its awareness into consideration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findings from Wave 4 · level now, and change since W3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category buyers, n=1,200 per wave (W1 Jul 2025, W2 Oct 2025, W3 Jan 2026, W4 Apr 2026). Weighted (rim: age × gender × region). Conversion base: aware of each brand (Atlas W4 n=879). NPS base: bought or drank Atlas in past 3 months (W4 n=189). Significance: change vs previous wave, two-sided test on effective base, 95%.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21792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brand tracker · W4 · 2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aided awareness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2167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 pts · significant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181051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Unaided awareness also rose, to 37% (+5.7 pts, significant). Both were flat for the three previous waves.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679192"/>
            <a:ext cx="1109167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80720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233172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consideration (all buyers)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331720" y="3191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+4.5 pts · significant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28346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among those aware held near half (52%, +2.2 pts, not significant): the gain came from reach.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83133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2331720" y="3877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consideration (all buyers)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331720" y="4215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+6.0 pts · significant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385876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moved ahead of Meridian (39%, −2.3 pts, not significant). Beacon now converts 66% of those aware of it.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727448"/>
            <a:ext cx="1109167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855464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2331720" y="49011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Net Promoter Score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331720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 in W3 · not significant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852160" y="488289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for the first time, but on 189 recent buyers. Read as direction, not a confirmed shift.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is better known than Beacon, but Beacon leads from consideration onwards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funnel, Wave 4 · % of all category buyers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category buyers, W4 n=1,200, fieldwork 13–26 Apr 2026. Weighted (rim: age × gender × region). Each stage is a % of all buyers; not-aware respondents count as not considering or buying. Solstice (W4 aided 24%) and Cardinal (21%) are in the tables.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21792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brand tracker · W4 · 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27632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03120" y="1627632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4086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0" y="1627632"/>
            <a:ext cx="164592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9534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1920240"/>
          <a:ext cx="1109167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awareness rose about 6 points in Q2, the first significant move in four waves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awareness by wave · % of all category buyers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category buyers, n=1,200 per wave (W1 Jul 2025, W2 Oct 2025, W3 Jan 2026, W4 Apr 2026). Weighted (rim: age × gender × region). Significance: change vs previous wave, two-sided test on effective base, 95%. Aided: Q2 "heard of, even if only by name". Unaided: Q1a any unprompted mention.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21792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brand tracker · W4 · 4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69164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595360" y="1920240"/>
            <a:ext cx="73152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823960" y="192024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Aided awareness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2212848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3400" dirty="0"/>
          </a:p>
        </p:txBody>
      </p:sp>
      <p:sp>
        <p:nvSpPr>
          <p:cNvPr id="12" name="Text 8"/>
          <p:cNvSpPr txBox="1"/>
          <p:nvPr/>
        </p:nvSpPr>
        <p:spPr>
          <a:xfrm>
            <a:off x="8823960" y="283464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 pts vs W3 · significant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595360" y="3657600"/>
            <a:ext cx="73152" cy="1371600"/>
          </a:xfrm>
          <a:prstGeom prst="rect">
            <a:avLst/>
          </a:prstGeom>
          <a:solidFill>
            <a:srgbClr val="5EB3AA"/>
          </a:solidFill>
          <a:ln w="12700">
            <a:solidFill>
              <a:srgbClr val="5EB3A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823960" y="365760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Unaided awareness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823960" y="3950208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8823960" y="457200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+5.7 pts vs W3 · significant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moved ahead of Meridian on consideration in Q2; Atlas also gained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definitely or probably consider · % of all category buyers, by wave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category buyers, n=1,200 per wave (W1 Jul 2025, W2 Oct 2025, W3 Jan 2026, W4 Apr 2026). Weighted (rim: age × gender × region). Q3, top two of a five-point scale; not-aware respondents count as not considering. Significance: change vs previous wave, two-sided test on effective base, 95%. The W4 Beacon–Meridian gap (3 pts) is within sampling error.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21792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brand tracker · W4 · 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69164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0126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vs W3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595360" y="2240280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851392" y="21488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012680" y="21488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698480" y="21488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+6.0 pts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0698480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8595360" y="3017520"/>
            <a:ext cx="164592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851392" y="29260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0012680" y="29260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0698480" y="29260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−2.3 pts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0698480" y="3246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595360" y="3794760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851392" y="37033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10012680" y="3703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0698480" y="37033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+4.5 pts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0698480" y="4023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Atlas’s gain came from reach, not persuasion: about half of those aware would consider it, as before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consider, among buyers aware of each brand · % by wave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category buyers aware of each brand, W4 unweighted n: Beacon 768, Solstice 312, Atlas 879, Cardinal 246, Meridian 1082. Weighted. Q3 top two box. ▲ significant change vs W3 at 95%.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21792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brand tracker · W4 · 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27632"/>
            <a:ext cx="164592" cy="164592"/>
          </a:xfrm>
          <a:prstGeom prst="rect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Q1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03120" y="1627632"/>
            <a:ext cx="164592" cy="1645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4086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 Q2 2026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920240"/>
          <a:ext cx="1109167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gained on ‘innovative’, but still trails Beacon on every attribute except ‘premium’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brand… (strongly or somewhat) · % of buyers aware of each brand, Wave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W4 category buyers aware of each brand: Atlas n=879, Beacon n=768. Weighted. Q7, top two of a five-point scale; don’t know kept in the base. ▲ significant change vs W3 at 95%. Meridian is in the tables (T15).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21792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brand tracker · W4 · 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27632"/>
            <a:ext cx="16459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03120" y="1627632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4086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874520"/>
          <a:ext cx="11091672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Growth-segment and younger buyers drove Atlas’s awareness gain; Core and Value barely moved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awareness by consumer segment and age · % of category buyers in each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category buyers in each group; unweighted n shown (same in W3 and W4). Weighted. ▲ significant change vs W3 at 95%. Aided: Q2. Unaided: Q1a any mention.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21792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brand tracker · W4 · 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097280"/>
                <a:gridCol w="1143000"/>
                <a:gridCol w="1143000"/>
                <a:gridCol w="1280160"/>
                <a:gridCol w="1188720"/>
                <a:gridCol w="118872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Buyers (n)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Aided W3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Aided W4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Unaided W3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Unaided W4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category buyers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+5.9 pts 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+5.7 pts 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segment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+3.0 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 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+10.5 pts 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+13.4 pts 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 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+1.4 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18–34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+8.2 pts 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+8.9 pts 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35–54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+6.3 pts 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+5.1 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55+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+3.3 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+3.5 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Atlas’s NPS turned positive in W4, but on a small base the change is not yet significant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to recommend Atlas (0–10) · % of recent Atlas buyers, by wave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bought or drank Atlas in the past 3 months: W1 n=156, W2 n=156, W3 n=162, W4 n=189. Weighted. NPS = % promoters (9–10) minus % detractors (0–6). W4 vs W3 not significant (p=0.25); W4 vs W1 p=0.07.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21792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brand tracker · W4 · 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27632"/>
            <a:ext cx="164592" cy="164592"/>
          </a:xfrm>
          <a:prstGeom prst="rect">
            <a:avLst/>
          </a:prstGeom>
          <a:solidFill>
            <a:srgbClr val="E3B6B1"/>
          </a:solidFill>
          <a:ln w="12700">
            <a:solidFill>
              <a:srgbClr val="E3B6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Detractors 0–6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03120" y="1627632"/>
            <a:ext cx="164592" cy="164592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4086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Passives 7–8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0" y="1627632"/>
            <a:ext cx="164592" cy="164592"/>
          </a:xfrm>
          <a:prstGeom prst="rect">
            <a:avLst/>
          </a:prstGeom>
          <a:solidFill>
            <a:srgbClr val="5DB8AC"/>
          </a:solidFill>
          <a:ln w="12700">
            <a:solidFill>
              <a:srgbClr val="5DB8A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9534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Promoters 9–10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1920240"/>
          <a:ext cx="1109167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this study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2179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tracker used for Velocity reference outputs. Full tables: Atlas_W4_tables_reference.xlsx.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621792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brand tracker · W4 · 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37160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who bought ready-to-drink chilled coffee in the past 3 months. 1,200 per wave, quota-controlled by segment and age.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2402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14–27 Jul 2025 · W2 13–26 Oct 2025 · W3 12–25 Jan 2026 · W4 13–26 Apr 2026. Each wave is a fresh sample.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10896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 weighting to age × gender × region. Design effect about 1.12; effective sample about 1,070 per wave.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97764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Two-sided z-tests on weighted proportions using effective bases, 95% confidence. No adjustment for multiple comparisons. Groups under 50 are shown as indicative and not tested.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484632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 and usage are shown as % of all buyers unless labelled “among aware”. Top two box = the two most positive points of a five-point scale.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brand tracker — Wave 4 readout (reference exhibit set)</dc:title>
  <dc:subject>PptxGenJS Presentation</dc:subject>
  <dc:creator>PptxGenJS</dc:creator>
  <cp:lastModifiedBy>PptxGenJS</cp:lastModifiedBy>
  <cp:revision>1</cp:revision>
  <dcterms:created xsi:type="dcterms:W3CDTF">2026-09-23T21:42:12Z</dcterms:created>
  <dcterms:modified xsi:type="dcterms:W3CDTF">2026-09-23T21:42:12Z</dcterms:modified>
</cp:coreProperties>
</file>