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Northstar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Unaided awareness</c:v>
                  </c:pt>
                  <c:pt idx="1">
                    <c:v>Aided awareness</c:v>
                  </c:pt>
                  <c:pt idx="2">
                    <c:v>Would seriously consider</c:v>
                  </c:pt>
                  <c:pt idx="3">
                    <c:v>Current provider</c:v>
                  </c:pt>
                  <c:pt idx="4">
                    <c:v>Most preferred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51.1</c:v>
                </c:pt>
                <c:pt idx="1">
                  <c:v>93.5</c:v>
                </c:pt>
                <c:pt idx="2">
                  <c:v>45.1</c:v>
                </c:pt>
                <c:pt idx="3">
                  <c:v>31.9</c:v>
                </c:pt>
                <c:pt idx="4">
                  <c:v>41.9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Pulse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Unaided awareness</c:v>
                  </c:pt>
                  <c:pt idx="1">
                    <c:v>Aided awareness</c:v>
                  </c:pt>
                  <c:pt idx="2">
                    <c:v>Would seriously consider</c:v>
                  </c:pt>
                  <c:pt idx="3">
                    <c:v>Current provider</c:v>
                  </c:pt>
                  <c:pt idx="4">
                    <c:v>Most preferred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43.7</c:v>
                </c:pt>
                <c:pt idx="1">
                  <c:v>73.8</c:v>
                </c:pt>
                <c:pt idx="2">
                  <c:v>29.6</c:v>
                </c:pt>
                <c:pt idx="3">
                  <c:v>19.8</c:v>
                </c:pt>
                <c:pt idx="4">
                  <c:v>25.1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Mosaic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Unaided awareness</c:v>
                  </c:pt>
                  <c:pt idx="1">
                    <c:v>Aided awareness</c:v>
                  </c:pt>
                  <c:pt idx="2">
                    <c:v>Would seriously consider</c:v>
                  </c:pt>
                  <c:pt idx="3">
                    <c:v>Current provider</c:v>
                  </c:pt>
                  <c:pt idx="4">
                    <c:v>Most preferred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33.6</c:v>
                </c:pt>
                <c:pt idx="1">
                  <c:v>76.4</c:v>
                </c:pt>
                <c:pt idx="2">
                  <c:v>25.7</c:v>
                </c:pt>
                <c:pt idx="3">
                  <c:v>11.8</c:v>
                </c:pt>
                <c:pt idx="4">
                  <c:v>12.4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Lumen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Unaided awareness</c:v>
                  </c:pt>
                  <c:pt idx="1">
                    <c:v>Aided awareness</c:v>
                  </c:pt>
                  <c:pt idx="2">
                    <c:v>Would seriously consider</c:v>
                  </c:pt>
                  <c:pt idx="3">
                    <c:v>Current provider</c:v>
                  </c:pt>
                  <c:pt idx="4">
                    <c:v>Most preferred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29.7</c:v>
                </c:pt>
                <c:pt idx="1">
                  <c:v>59.1</c:v>
                </c:pt>
                <c:pt idx="2">
                  <c:v>19</c:v>
                </c:pt>
                <c:pt idx="3">
                  <c:v>11.3</c:v>
                </c:pt>
                <c:pt idx="4">
                  <c:v>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Harbour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Unaided awareness</c:v>
                  </c:pt>
                  <c:pt idx="1">
                    <c:v>Aided awareness</c:v>
                  </c:pt>
                  <c:pt idx="2">
                    <c:v>Would seriously consider</c:v>
                  </c:pt>
                  <c:pt idx="3">
                    <c:v>Current provider</c:v>
                  </c:pt>
                  <c:pt idx="4">
                    <c:v>Most preferred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36.5</c:v>
                </c:pt>
                <c:pt idx="1">
                  <c:v>79.5</c:v>
                </c:pt>
                <c:pt idx="2">
                  <c:v>24.1</c:v>
                </c:pt>
                <c:pt idx="3">
                  <c:v>16.3</c:v>
                </c:pt>
                <c:pt idx="4">
                  <c:v>12.6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5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Pulse</c:v>
                </c:pt>
              </c:strCache>
            </c:strRef>
          </c:tx>
          <c:spPr>
            <a:solidFill>
              <a:srgbClr val="C2410C"/>
            </a:solidFill>
            <a:ln w="38100" cap="flat">
              <a:solidFill>
                <a:srgbClr val="C2410C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2410C"/>
              </a:solidFill>
              <a:ln w="9525" cap="flat">
                <a:solidFill>
                  <a:srgbClr val="C241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30.1</c:v>
                </c:pt>
                <c:pt idx="1">
                  <c:v>30.6</c:v>
                </c:pt>
                <c:pt idx="2">
                  <c:v>44.7</c:v>
                </c:pt>
                <c:pt idx="3">
                  <c:v>44.4</c:v>
                </c:pt>
                <c:pt idx="4">
                  <c:v>43.7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of other tracked brands</c:v>
                </c:pt>
              </c:strCache>
            </c:strRef>
          </c:tx>
          <c:spPr>
            <a:solidFill>
              <a:srgbClr val="94A3B8"/>
            </a:solidFill>
            <a:ln w="3810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36.9</c:v>
                </c:pt>
                <c:pt idx="1">
                  <c:v>36.5</c:v>
                </c:pt>
                <c:pt idx="2">
                  <c:v>37.4</c:v>
                </c:pt>
                <c:pt idx="3">
                  <c:v>37.3</c:v>
                </c:pt>
                <c:pt idx="4">
                  <c:v>37.7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25"/>
        </c:scaling>
        <c:delete val="1"/>
        <c:axPos val="l"/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Northstar</c:v>
                </c:pt>
              </c:strCache>
            </c:strRef>
          </c:tx>
          <c:spPr>
            <a:solidFill>
              <a:srgbClr val="1F4E79"/>
            </a:solidFill>
            <a:ln w="3810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7.7</c:v>
                </c:pt>
                <c:pt idx="1">
                  <c:v>7.8</c:v>
                </c:pt>
                <c:pt idx="2">
                  <c:v>7.7</c:v>
                </c:pt>
                <c:pt idx="3">
                  <c:v>6.2</c:v>
                </c:pt>
                <c:pt idx="4">
                  <c:v>7.1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of other tracked brands</c:v>
                </c:pt>
              </c:strCache>
            </c:strRef>
          </c:tx>
          <c:spPr>
            <a:solidFill>
              <a:srgbClr val="94A3B8"/>
            </a:solidFill>
            <a:ln w="3810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7.4</c:v>
                </c:pt>
                <c:pt idx="1">
                  <c:v>7.4</c:v>
                </c:pt>
                <c:pt idx="2">
                  <c:v>7.3</c:v>
                </c:pt>
                <c:pt idx="3">
                  <c:v>7.3</c:v>
                </c:pt>
                <c:pt idx="4">
                  <c:v>7.3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.5"/>
          <c:min val="5.5"/>
        </c:scaling>
        <c:delete val="1"/>
        <c:axPos val="l"/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Harbour</c:v>
                </c:pt>
              </c:strCache>
            </c:strRef>
          </c:tx>
          <c:spPr>
            <a:solidFill>
              <a:srgbClr val="B45309"/>
            </a:solidFill>
            <a:ln w="38100" cap="flat">
              <a:solidFill>
                <a:srgbClr val="B45309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B45309"/>
              </a:solidFill>
              <a:ln w="9525" cap="flat">
                <a:solidFill>
                  <a:srgbClr val="B4530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14.8</c:v>
                </c:pt>
                <c:pt idx="2">
                  <c:v>13.8</c:v>
                </c:pt>
                <c:pt idx="3">
                  <c:v>13.4</c:v>
                </c:pt>
                <c:pt idx="4">
                  <c:v>12.6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of other tracked brands</c:v>
                </c:pt>
              </c:strCache>
            </c:strRef>
          </c:tx>
          <c:spPr>
            <a:solidFill>
              <a:srgbClr val="94A3B8"/>
            </a:solidFill>
            <a:ln w="3810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20.8</c:v>
                </c:pt>
                <c:pt idx="1">
                  <c:v>21.3</c:v>
                </c:pt>
                <c:pt idx="2">
                  <c:v>21.6</c:v>
                </c:pt>
                <c:pt idx="3">
                  <c:v>21.7</c:v>
                </c:pt>
                <c:pt idx="4">
                  <c:v>21.9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  <c:min val="8"/>
        </c:scaling>
        <c:delete val="1"/>
        <c:axPos val="l"/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Lumen</c:v>
                </c:pt>
              </c:strCache>
            </c:strRef>
          </c:tx>
          <c:spPr>
            <a:solidFill>
              <a:srgbClr val="7C3AED"/>
            </a:solidFill>
            <a:ln w="381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8.8</c:v>
                </c:pt>
                <c:pt idx="1">
                  <c:v>10.9</c:v>
                </c:pt>
                <c:pt idx="2">
                  <c:v>7.4</c:v>
                </c:pt>
                <c:pt idx="3">
                  <c:v>8.2</c:v>
                </c:pt>
                <c:pt idx="4">
                  <c:v>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of other tracked brands</c:v>
                </c:pt>
              </c:strCache>
            </c:strRef>
          </c:tx>
          <c:spPr>
            <a:solidFill>
              <a:srgbClr val="94A3B8"/>
            </a:solidFill>
            <a:ln w="3810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22.8</c:v>
                </c:pt>
                <c:pt idx="1">
                  <c:v>22.3</c:v>
                </c:pt>
                <c:pt idx="2">
                  <c:v>23.2</c:v>
                </c:pt>
                <c:pt idx="3">
                  <c:v>22.9</c:v>
                </c:pt>
                <c:pt idx="4">
                  <c:v>23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l"/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Northstar</c:v>
                </c:pt>
              </c:strCache>
            </c:strRef>
          </c:tx>
          <c:spPr>
            <a:solidFill>
              <a:srgbClr val="1F4E79"/>
            </a:solidFill>
            <a:ln w="3810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47.3</c:v>
                </c:pt>
                <c:pt idx="1">
                  <c:v>46.2</c:v>
                </c:pt>
                <c:pt idx="2">
                  <c:v>44</c:v>
                </c:pt>
                <c:pt idx="3">
                  <c:v>43.1</c:v>
                </c:pt>
                <c:pt idx="4">
                  <c:v>41.9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 of other tracked brands</c:v>
                </c:pt>
              </c:strCache>
            </c:strRef>
          </c:tx>
          <c:spPr>
            <a:solidFill>
              <a:srgbClr val="94A3B8"/>
            </a:solidFill>
            <a:ln w="3810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13.2</c:v>
                </c:pt>
                <c:pt idx="1">
                  <c:v>13.5</c:v>
                </c:pt>
                <c:pt idx="2">
                  <c:v>14</c:v>
                </c:pt>
                <c:pt idx="3">
                  <c:v>14.2</c:v>
                </c:pt>
                <c:pt idx="4">
                  <c:v>14.5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Harbour · 18–34</c:v>
                </c:pt>
              </c:strCache>
            </c:strRef>
          </c:tx>
          <c:spPr>
            <a:solidFill>
              <a:srgbClr val="B45309"/>
            </a:solidFill>
            <a:ln w="38100" cap="flat">
              <a:solidFill>
                <a:srgbClr val="B45309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B45309"/>
              </a:solidFill>
              <a:ln w="9525" cap="flat">
                <a:solidFill>
                  <a:srgbClr val="B4530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27.8</c:v>
                </c:pt>
                <c:pt idx="1">
                  <c:v>24.6</c:v>
                </c:pt>
                <c:pt idx="2">
                  <c:v>22.1</c:v>
                </c:pt>
                <c:pt idx="3">
                  <c:v>19.6</c:v>
                </c:pt>
                <c:pt idx="4">
                  <c:v>18.7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Harbour · all ages</c:v>
                </c:pt>
              </c:strCache>
            </c:strRef>
          </c:tx>
          <c:spPr>
            <a:solidFill>
              <a:srgbClr val="94A3B8"/>
            </a:solidFill>
            <a:ln w="3810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31.9</c:v>
                </c:pt>
                <c:pt idx="1">
                  <c:v>30.2</c:v>
                </c:pt>
                <c:pt idx="2">
                  <c:v>30.5</c:v>
                </c:pt>
                <c:pt idx="3">
                  <c:v>29.3</c:v>
                </c:pt>
                <c:pt idx="4">
                  <c:v>30.4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10"/>
        </c:scaling>
        <c:delete val="1"/>
        <c:axPos val="l"/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2011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mobile network brand tracker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board readout · W5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611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waves · 2,000 respondents per wave · weighted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five-wave tracker (SBT-001); brands and figures are fictitious.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developments change the picture, led by Pulse, Northstar and Harbour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Developments that pass significance and materiality tests · level and change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all respondents, n≈2,000 per wave (W1, W2, W3, W4, W5). Weighted (wt_final). Significance: Wald test on Kish effective bases, 95%, wave on wave unless stated. Materiality: ±3 pts for percentages, ±10 for NPS.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mobile network brand tracker · W5 · 2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64592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728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· Unaided awareness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148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+14.1 pts in W3 · significant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1728216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unaided awareness rose 14 pts to 45% in W3, with preference share (+7 pts) and customer share (+5 pts) moving the same way; W5 is still 13 pts above W2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496312"/>
            <a:ext cx="1109167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587752"/>
            <a:ext cx="164592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26243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· Satisfaction (mean, 0–10)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044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−1.5 in W4 · significant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624328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average satisfaction fell 1.5 points to 6.2 out of 10 in W4, with NPS (−48 pts) and share reporting a network problem (+20 pts) moving the same way; W5 is still 0.5 points below W3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1109167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483864"/>
            <a:ext cx="164592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3520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 · Most preferred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3941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−4.4 pts W1→W5 · significant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520440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 preference share has fallen gradually, −4.4 pts from W1 to W5, with no single wave-on-wave step significant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288536"/>
            <a:ext cx="1109167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379976"/>
            <a:ext cx="164592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44165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· Most preferred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48371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−3.5 pts in W3 · significant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4416552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preference share fell 4 pts to 7% in W3; W5 is still 3 pts below W2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184648"/>
            <a:ext cx="1109167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8640" y="5276088"/>
            <a:ext cx="164592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2377440" y="53126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· Most preferred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377440" y="5733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−5.3 pts W1→W5 · significant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0" y="5312664"/>
            <a:ext cx="5669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preference share has fallen gradually, −5.3 pts from W1 to W5, with no single wave-on-wave step significant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leads every stage of the funnel in W5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funnel, W5 · % of all respondents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all respondents in W5, n=2,000. Weighted. Consideration counts non-aware respondents as not considering.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mobile network brand tracker · W5 · 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36776"/>
            <a:ext cx="155448" cy="1554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72768"/>
            <a:ext cx="105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53412" y="1636776"/>
            <a:ext cx="155448" cy="1554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82012" y="1572768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10712" y="1636776"/>
            <a:ext cx="155448" cy="1554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39312" y="1572768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Mosaic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636776"/>
            <a:ext cx="155448" cy="155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1572768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12180" y="1636776"/>
            <a:ext cx="155448" cy="1554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0780" y="1572768"/>
            <a:ext cx="882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</a:t>
            </a:r>
            <a:endParaRPr lang="en-US" sz="11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548640" y="1920240"/>
          <a:ext cx="11091672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 unaided awareness rose 14 pts to 45% in W3; W5 is still 13 pts above W2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Unaided awareness · % · all respondents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All respondents. Unweighted base, Pulse: W1 2000, W2 2000, W3 2000, W4 2000, W5 2000. Weighted. Significance: Wald test on Kish effective bases, 95%, wave on wave unless stated.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mobile network brand tracker · W5 ·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36776"/>
            <a:ext cx="155448" cy="1554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72768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05940" y="1636776"/>
            <a:ext cx="155448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34540" y="1572768"/>
            <a:ext cx="2967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of other tracked brands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1920240"/>
          <a:ext cx="74980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8366760" y="187452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 level · change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366760" y="2267712"/>
            <a:ext cx="64008" cy="58521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49640" y="22402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Unaided awareness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24963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+14.1 pts in W3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366760" y="3035808"/>
            <a:ext cx="64008" cy="58521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49640" y="30083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Prompted ad awareness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326440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+27.4 pts in W3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366760" y="3803904"/>
            <a:ext cx="64008" cy="58521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49640" y="377647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Aided awareness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403250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+12.2 pts in W3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366760" y="4572000"/>
            <a:ext cx="64008" cy="58521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49640" y="454456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preferred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549640" y="480060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+7.2 pts in W3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366760" y="5340096"/>
            <a:ext cx="64008" cy="5852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549640" y="531266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Unaided awareness now (W5)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549640" y="556869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+13.0 pts vs W2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average satisfaction fell 1.5 points to 6.2 out of 10 in W4; W5 is still 0.5 points below W3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(mean, 0–10) · mean score · current customers of the brand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Current customers of the brand. Unweighted base, Northstar: W1 658, W2 660, W3 622, W4 612, W5 640. Weighted. Significance: Wald test on Kish effective bases, 95%, wave on wave unless stated.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mobile network brand tracker · W5 · 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36776"/>
            <a:ext cx="155448" cy="1554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72768"/>
            <a:ext cx="105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53412" y="1636776"/>
            <a:ext cx="155448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82012" y="1572768"/>
            <a:ext cx="2967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of other tracked brands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1920240"/>
          <a:ext cx="74980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8366760" y="187452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 level · change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366760" y="2267712"/>
            <a:ext cx="64008" cy="58521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49640" y="22402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(mean, 0–10)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24963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−1.5 in W4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366760" y="3035808"/>
            <a:ext cx="64008" cy="58521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49640" y="30083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Promoter Score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326440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−61</a:t>
            </a:r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−48.2 pts in W4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366760" y="3803904"/>
            <a:ext cx="64008" cy="58521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49640" y="377647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Had a network/service problem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4032504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+20.3 pts in W4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366760" y="4572000"/>
            <a:ext cx="64008" cy="58521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49640" y="454456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 as 'reliable network'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8549640" y="4800600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−11.2 pts in W4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366760" y="5340096"/>
            <a:ext cx="64008" cy="5852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549640" y="531266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 (mean, 0–10) now (W5)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549640" y="556869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</a:t>
            </a:r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−0.5 vs W3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 preference share has fallen gradually, −4.4 pts from W1 to W5, with no single wave-on-wave step significant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preferred · % · all respondents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All respondents. Unweighted base, Harbour: W1 2000, W2 2000, W3 2000, W4 2000, W5 2000. Weighted. Significance: Wald test on Kish effective bases, 95%, wave on wave unless stated.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mobile network brand tracker · W5 · 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36776"/>
            <a:ext cx="155448" cy="1554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72768"/>
            <a:ext cx="882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79676" y="1636776"/>
            <a:ext cx="155448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08276" y="1572768"/>
            <a:ext cx="2967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of other tracked brands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1920240"/>
          <a:ext cx="74980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8366760" y="187452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 level · change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366760" y="2267712"/>
            <a:ext cx="64008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49640" y="22402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preferred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24963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−4.4 pts since W1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preference share fell 4 pts to 7% in W3; W5 is still 3 pts below W2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preferred · % · all respondents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All respondents. Unweighted base, Lumen: W1 2000, W2 2000, W3 2000, W4 2000, W5 2000. Weighted. Significance: Wald test on Kish effective bases, 95%, wave on wave unless stated.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mobile network brand tracker · W5 · 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36776"/>
            <a:ext cx="155448" cy="155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72768"/>
            <a:ext cx="708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05940" y="1636776"/>
            <a:ext cx="155448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34540" y="1572768"/>
            <a:ext cx="2967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of other tracked brands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1920240"/>
          <a:ext cx="74980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8366760" y="187452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 level · change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366760" y="2267712"/>
            <a:ext cx="64008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49640" y="22402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preferred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24963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−3.5 pts in W3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366760" y="3136392"/>
            <a:ext cx="64008" cy="6858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49640" y="310896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preferred now (W5)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549640" y="336499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−2.9 pts vs W2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W3 fall in Lumen preference share came from 18–34s (−6.3 pts) and 35–54s (−4.5 pts); those aged 55+ showed no significant change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preference share by age · W2 and W3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All respondents in each age group. Weighted. ▲/▼ change significant at 95%. Difference in change between 18–34 and 55+: p=0.014.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mobile network brand tracker · W5 · 8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1828800"/>
                <a:gridCol w="1828800"/>
                <a:gridCol w="24963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 group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W3 (n)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b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18–34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−6.3 pts 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35–54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−4.5 pts 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−0.6 pts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 preference share has fallen gradually, −5.3 pts from W1 to W5, with no single wave-on-wave step significant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preferred · % · all respondents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All respondents. Unweighted base, Northstar: W1 2000, W2 2000, W3 2000, W4 2000, W5 2000. Weighted. Significance: Wald test on Kish effective bases, 95%, wave on wave unless stated.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mobile network brand tracker · W5 · 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36776"/>
            <a:ext cx="155448" cy="15544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72768"/>
            <a:ext cx="10561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Northstar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53412" y="1636776"/>
            <a:ext cx="155448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82012" y="1572768"/>
            <a:ext cx="2967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of other tracked brands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1920240"/>
          <a:ext cx="74980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8366760" y="187452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 level · change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366760" y="2267712"/>
            <a:ext cx="64008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49640" y="22402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preferred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24963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−5.3 pts since W1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18–34s, Harbour consideration among those aware has fallen 9.1 pts since W1; the total-market change is not significant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070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 among aware · % · aware of the brand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Aware of the brand. Unweighted base, 18–34: W1 458, W2 426, W3 676, W4 425, W5 433. Weighted. Significance: Wald test on Kish effective bases, 95%, wave on wave unless stated.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mobile network brand tracker · W5 · 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36776"/>
            <a:ext cx="155448" cy="1554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72768"/>
            <a:ext cx="157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 · 18–34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74620" y="1636776"/>
            <a:ext cx="155448" cy="155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03220" y="1572768"/>
            <a:ext cx="183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Harbour · all ages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1920240"/>
          <a:ext cx="74980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8366760" y="187452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 level · change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366760" y="2267712"/>
            <a:ext cx="64008" cy="685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49640" y="22402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 among aware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24963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−9.1 pts since W1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this study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217920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five-wave tracker (SBT-001); brands and figures are fictitious.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9875520" y="6217920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mobile network brand tracker · W5 · 11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137160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adults who decide or share the decision on their personal mobile service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24028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1, Wave 2, Wave 3, Wave 4, Wave 5; 2,000 respondents per wave, fresh samples.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089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10896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wt_final within each wave. Percentages are weighted; bases shown are unweighted.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77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397764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Wald tests on Kish effective bases at 95%. Subgroup trends are screened at 99% because many are examined. Changes also need to exceed a materiality threshold before they are reported.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46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4846320"/>
            <a:ext cx="8869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questions use their own base (for example, image among those familiar with the brand; NPS among current customers). Bases under 50 are not used for claims.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 mobile network brand tracker</dc:title>
  <dc:subject>PptxGenJS Presentation</dc:subject>
  <dc:creator>PptxGenJS</dc:creator>
  <cp:lastModifiedBy>PptxGenJS</cp:lastModifiedBy>
  <cp:revision>1</cp:revision>
  <dcterms:created xsi:type="dcterms:W3CDTF">2026-09-23T22:29:11Z</dcterms:created>
  <dcterms:modified xsi:type="dcterms:W3CDTF">2026-09-23T22:29:11Z</dcterms:modified>
</cp:coreProperties>
</file>