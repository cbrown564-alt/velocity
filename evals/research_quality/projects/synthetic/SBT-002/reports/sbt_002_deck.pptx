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3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4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Purchase intent</c:v>
                </c:pt>
              </c:strCache>
            </c:strRef>
          </c:tx>
          <c:spPr>
            <a:solidFill>
              <a:srgbClr val="1F3A5F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11827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Flex</c:v>
                  </c:pt>
                  <c:pt idx="1">
                    <c:v>Plus</c:v>
                  </c:pt>
                  <c:pt idx="2">
                    <c:v>Simple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53.2</c:v>
                </c:pt>
                <c:pt idx="1">
                  <c:v>50.4</c:v>
                </c:pt>
                <c:pt idx="2">
                  <c:v>40.4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Overall appeal</c:v>
                </c:pt>
              </c:strCache>
            </c:strRef>
          </c:tx>
          <c:spPr>
            <a:solidFill>
              <a:srgbClr val="8FA3BF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11827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Flex</c:v>
                  </c:pt>
                  <c:pt idx="1">
                    <c:v>Plus</c:v>
                  </c:pt>
                  <c:pt idx="2">
                    <c:v>Simple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61</c:v>
                </c:pt>
                <c:pt idx="1">
                  <c:v>54</c:v>
                </c:pt>
                <c:pt idx="2">
                  <c:v>41.1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1200" u="none">
                  <a:solidFill>
                    <a:srgbClr val="111827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-5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1182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B556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Definitely would not</c:v>
                </c:pt>
              </c:strCache>
            </c:strRef>
          </c:tx>
          <c:spPr>
            <a:solidFill>
              <a:srgbClr val="D9786C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11827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Flex</c:v>
                  </c:pt>
                  <c:pt idx="1">
                    <c:v>Plus</c:v>
                  </c:pt>
                  <c:pt idx="2">
                    <c:v>Simple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3.8</c:v>
                </c:pt>
                <c:pt idx="1">
                  <c:v>9.3</c:v>
                </c:pt>
                <c:pt idx="2">
                  <c:v>8.8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Probably would not</c:v>
                </c:pt>
              </c:strCache>
            </c:strRef>
          </c:tx>
          <c:spPr>
            <a:solidFill>
              <a:srgbClr val="F0C4BE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11827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Flex</c:v>
                  </c:pt>
                  <c:pt idx="1">
                    <c:v>Plus</c:v>
                  </c:pt>
                  <c:pt idx="2">
                    <c:v>Simple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16.2</c:v>
                </c:pt>
                <c:pt idx="1">
                  <c:v>15.8</c:v>
                </c:pt>
                <c:pt idx="2">
                  <c:v>17.8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Might or might not</c:v>
                </c:pt>
              </c:strCache>
            </c:strRef>
          </c:tx>
          <c:spPr>
            <a:solidFill>
              <a:srgbClr val="E5E7EB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11827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Flex</c:v>
                  </c:pt>
                  <c:pt idx="1">
                    <c:v>Plus</c:v>
                  </c:pt>
                  <c:pt idx="2">
                    <c:v>Simple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26.7</c:v>
                </c:pt>
                <c:pt idx="1">
                  <c:v>24.4</c:v>
                </c:pt>
                <c:pt idx="2">
                  <c:v>33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Probably would</c:v>
                </c:pt>
              </c:strCache>
            </c:strRef>
          </c:tx>
          <c:spPr>
            <a:solidFill>
              <a:srgbClr val="A9C6E3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11827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Flex</c:v>
                  </c:pt>
                  <c:pt idx="1">
                    <c:v>Plus</c:v>
                  </c:pt>
                  <c:pt idx="2">
                    <c:v>Simple</c:v>
                  </c:pt>
                </c:lvl>
              </c:multiLvlStrCache>
            </c:multiLvlStrRef>
          </c:cat>
          <c:val>
            <c:numRef>
              <c:f>Sheet1!$E$2:$E$4</c:f>
              <c:numCache>
                <c:formatCode>General</c:formatCode>
                <c:ptCount val="3"/>
                <c:pt idx="0">
                  <c:v>30.1</c:v>
                </c:pt>
                <c:pt idx="1">
                  <c:v>24.6</c:v>
                </c:pt>
                <c:pt idx="2">
                  <c:v>26.7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Definitely would</c:v>
                </c:pt>
              </c:strCache>
            </c:strRef>
          </c:tx>
          <c:spPr>
            <a:solidFill>
              <a:srgbClr val="5B8FC7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11827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Flex</c:v>
                  </c:pt>
                  <c:pt idx="1">
                    <c:v>Plus</c:v>
                  </c:pt>
                  <c:pt idx="2">
                    <c:v>Simple</c:v>
                  </c:pt>
                </c:lvl>
              </c:multiLvlStrCache>
            </c:multiLvlStrRef>
          </c:cat>
          <c:val>
            <c:numRef>
              <c:f>Sheet1!$F$2:$F$4</c:f>
              <c:numCache>
                <c:formatCode>General</c:formatCode>
                <c:ptCount val="3"/>
                <c:pt idx="0">
                  <c:v>23.1</c:v>
                </c:pt>
                <c:pt idx="1">
                  <c:v>25.8</c:v>
                </c:pt>
                <c:pt idx="2">
                  <c:v>13.7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1100" u="none">
                  <a:solidFill>
                    <a:srgbClr val="111827"/>
                  </a:solidFill>
                  <a:latin typeface="Arial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10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11182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B556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Food explorers</c:v>
                </c:pt>
              </c:strCache>
            </c:strRef>
          </c:tx>
          <c:spPr>
            <a:solidFill>
              <a:srgbClr val="C2410C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11827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Flex</c:v>
                  </c:pt>
                  <c:pt idx="1">
                    <c:v>Plus</c:v>
                  </c:pt>
                  <c:pt idx="2">
                    <c:v>Simple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60.1</c:v>
                </c:pt>
                <c:pt idx="1">
                  <c:v>72.1</c:v>
                </c:pt>
                <c:pt idx="2">
                  <c:v>43.3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Other buyers</c:v>
                </c:pt>
              </c:strCache>
            </c:strRef>
          </c:tx>
          <c:spPr>
            <a:solidFill>
              <a:srgbClr val="94A3B8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11827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Flex</c:v>
                  </c:pt>
                  <c:pt idx="1">
                    <c:v>Plus</c:v>
                  </c:pt>
                  <c:pt idx="2">
                    <c:v>Simple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61.2</c:v>
                </c:pt>
                <c:pt idx="1">
                  <c:v>48.4</c:v>
                </c:pt>
                <c:pt idx="2">
                  <c:v>40.4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1200" u="none">
                  <a:solidFill>
                    <a:srgbClr val="111827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-5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1182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B556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Asked the question (% of cell)</c:v>
                </c:pt>
              </c:strCache>
            </c:strRef>
          </c:tx>
          <c:spPr>
            <a:solidFill>
              <a:srgbClr val="94A3B8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11827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Flex</c:v>
                  </c:pt>
                  <c:pt idx="1">
                    <c:v>Plus</c:v>
                  </c:pt>
                  <c:pt idx="2">
                    <c:v>Simple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99.1</c:v>
                </c:pt>
                <c:pt idx="1">
                  <c:v>67.9</c:v>
                </c:pt>
                <c:pt idx="2">
                  <c:v>99.8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Top-two box among those asked</c:v>
                </c:pt>
              </c:strCache>
            </c:strRef>
          </c:tx>
          <c:spPr>
            <a:solidFill>
              <a:srgbClr val="1F3A5F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11827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Flex</c:v>
                  </c:pt>
                  <c:pt idx="1">
                    <c:v>Plus</c:v>
                  </c:pt>
                  <c:pt idx="2">
                    <c:v>Simple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50.1</c:v>
                </c:pt>
                <c:pt idx="1">
                  <c:v>78.8</c:v>
                </c:pt>
                <c:pt idx="2">
                  <c:v>37.7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1200" u="none">
                  <a:solidFill>
                    <a:srgbClr val="111827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-5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1182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B556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914400" y="201168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Everyday meal-kit concept test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283464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Concept readout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36118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concepts · 2,100 respondents · randomised monadic · weighted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61264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Synthetic randomised monadic concept test (SBT-002); concepts and figures are fictitious.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Flex and Plus both clear Simple; neither wins outright on purchase intent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07008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concept test shows · level and comparison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6144768"/>
            <a:ext cx="11091672" cy="0"/>
          </a:xfrm>
          <a:prstGeom prst="line">
            <a:avLst/>
          </a:prstGeom>
          <a:noFill/>
          <a:ln w="9525">
            <a:solidFill>
              <a:srgbClr val="D1D5D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6217920"/>
            <a:ext cx="9235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Base: all respondents, each shown one concept at random (Flex n=700, Plus n=700, Simple n=700). Weighted (wt_final). Pairwise tests on top-two box, Holm-adjusted across the three pairs, 95%; 'material' = at least 5 pts.</a:t>
            </a:r>
            <a:endParaRPr lang="en-US" sz="850" dirty="0"/>
          </a:p>
        </p:txBody>
      </p:sp>
      <p:sp>
        <p:nvSpPr>
          <p:cNvPr id="6" name="Text 4"/>
          <p:cNvSpPr txBox="1"/>
          <p:nvPr/>
        </p:nvSpPr>
        <p:spPr>
          <a:xfrm>
            <a:off x="9875520" y="6217920"/>
            <a:ext cx="1764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Everyday meal-kit concept test · 2</a:t>
            </a:r>
            <a:endParaRPr lang="en-US" sz="8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691640"/>
            <a:ext cx="16459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53%</a:t>
            </a:r>
            <a:endParaRPr lang="en-US" sz="3400" dirty="0"/>
          </a:p>
        </p:txBody>
      </p:sp>
      <p:sp>
        <p:nvSpPr>
          <p:cNvPr id="8" name="Text 6"/>
          <p:cNvSpPr txBox="1"/>
          <p:nvPr/>
        </p:nvSpPr>
        <p:spPr>
          <a:xfrm>
            <a:off x="2377440" y="1728216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Flex · purchase intent (top two box)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2377440" y="21488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+2.8 pts vs Plus · not significant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5943600" y="1728216"/>
            <a:ext cx="56692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clear winner on purchase intent: Flex (53%) and Plus (50%) are not significantly different; Simple trails at 40%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2697480"/>
            <a:ext cx="11091672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48640" y="2788920"/>
            <a:ext cx="16459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61%</a:t>
            </a:r>
            <a:endParaRPr lang="en-US" sz="3400" dirty="0"/>
          </a:p>
        </p:txBody>
      </p:sp>
      <p:sp>
        <p:nvSpPr>
          <p:cNvPr id="13" name="Text 11"/>
          <p:cNvSpPr txBox="1"/>
          <p:nvPr/>
        </p:nvSpPr>
        <p:spPr>
          <a:xfrm>
            <a:off x="2377440" y="2825496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Flex · overall appeal (top two box)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2377440" y="324612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+7.0 pts vs Plus · significant and material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5943600" y="2825496"/>
            <a:ext cx="56692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Flex leads on overall appeal (61% top-two box), 7 pts ahead of Plus; Simple trails at 41%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3794760"/>
            <a:ext cx="11091672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8640" y="3886200"/>
            <a:ext cx="16459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+25 pts</a:t>
            </a:r>
            <a:endParaRPr lang="en-US" sz="3400" dirty="0"/>
          </a:p>
        </p:txBody>
      </p:sp>
      <p:sp>
        <p:nvSpPr>
          <p:cNvPr id="18" name="Text 16"/>
          <p:cNvSpPr txBox="1"/>
          <p:nvPr/>
        </p:nvSpPr>
        <p:spPr>
          <a:xfrm>
            <a:off x="2377440" y="3922776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Food explorers: Plus vs Flex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2377440" y="434340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interaction · significant (Holm)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5943600" y="3922776"/>
            <a:ext cx="56692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Among food explorers, Plus is +12 pts vs Flex on overall appeal; among other buyers it is −13 pts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48640" y="4892040"/>
            <a:ext cx="11091672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48640" y="4983480"/>
            <a:ext cx="16459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68%</a:t>
            </a:r>
            <a:endParaRPr lang="en-US" sz="3400" dirty="0"/>
          </a:p>
        </p:txBody>
      </p:sp>
      <p:sp>
        <p:nvSpPr>
          <p:cNvPr id="23" name="Text 21"/>
          <p:cNvSpPr txBox="1"/>
          <p:nvPr/>
        </p:nvSpPr>
        <p:spPr>
          <a:xfrm>
            <a:off x="2377440" y="5020056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Premium proposition convincing: share of Plus cell asked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2377440" y="544068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routed question · base differs by concept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5943600" y="5020056"/>
            <a:ext cx="56692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'Premium proposition convincing' is not comparable across concepts: only 68% of Plus respondents were asked, against 99–100% of the others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Flex is significantly and materially ahead of Simple on 5 of 7 and Plus on 4 of 7 measures; Plus beats it on 1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07008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Concept scorecard · top-two box (4–5) · letters = significantly and materially higher than that concept (Holm, 95%, ≥5 pts)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6144768"/>
            <a:ext cx="11091672" cy="0"/>
          </a:xfrm>
          <a:prstGeom prst="line">
            <a:avLst/>
          </a:prstGeom>
          <a:noFill/>
          <a:ln w="9525">
            <a:solidFill>
              <a:srgbClr val="D1D5D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6217920"/>
            <a:ext cx="9235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Base: all respondents, each shown one concept at random (Flex n=700, Plus n=700, Simple n=700). Weighted (wt_final). Pairwise tests on top-two box, Holm-adjusted across the three pairs, 95%; 'material' = at least 5 pts.</a:t>
            </a:r>
            <a:endParaRPr lang="en-US" sz="850" dirty="0"/>
          </a:p>
        </p:txBody>
      </p:sp>
      <p:sp>
        <p:nvSpPr>
          <p:cNvPr id="6" name="Text 4"/>
          <p:cNvSpPr txBox="1"/>
          <p:nvPr/>
        </p:nvSpPr>
        <p:spPr>
          <a:xfrm>
            <a:off x="9875520" y="6217920"/>
            <a:ext cx="1764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Everyday meal-kit concept test · 3</a:t>
            </a:r>
            <a:endParaRPr lang="en-US" sz="85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11091672" cy="914400"/>
        </p:xfrm>
        <a:graphic>
          <a:graphicData uri="http://schemas.openxmlformats.org/drawingml/2006/table">
            <a:tbl>
              <a:tblPr/>
              <a:tblGrid>
                <a:gridCol w="3959352"/>
                <a:gridCol w="2377440"/>
                <a:gridCol w="2377440"/>
                <a:gridCol w="2377440"/>
              </a:tblGrid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4B556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Top-two box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b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4B556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Flex (A)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b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4B556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Plus (B)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b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4B556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Simple (C)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b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Purchase intent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1580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53% C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1580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50% C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40%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Overall appeal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1580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61% BC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1580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54% C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41%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Uniqueness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1580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48% C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1580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81% AC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34%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Relevance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1580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64% BC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1580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49% C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41%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Credibility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1580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62% B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42%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1580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57% B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Value for money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1580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56% C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1580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57% C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44%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Ease of understanding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1580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96% B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32%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1580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93% B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5B657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Unweighted base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5B657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5B657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5B657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clear winner on purchase intent: Flex (53%) and Plus (50%) are not significantly different; Simple trails at 40%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07008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Top-two box (4–5) by concept · % of respondents shown each concept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6144768"/>
            <a:ext cx="11091672" cy="0"/>
          </a:xfrm>
          <a:prstGeom prst="line">
            <a:avLst/>
          </a:prstGeom>
          <a:noFill/>
          <a:ln w="9525">
            <a:solidFill>
              <a:srgbClr val="D1D5D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6217920"/>
            <a:ext cx="9235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Base: all respondents, each shown one concept at random (Flex n=700, Plus n=700, Simple n=700). Weighted (wt_final). Pairwise tests on top-two box, Holm-adjusted across the three pairs, 95%; 'material' = at least 5 pts.</a:t>
            </a:r>
            <a:endParaRPr lang="en-US" sz="850" dirty="0"/>
          </a:p>
        </p:txBody>
      </p:sp>
      <p:sp>
        <p:nvSpPr>
          <p:cNvPr id="6" name="Text 4"/>
          <p:cNvSpPr txBox="1"/>
          <p:nvPr/>
        </p:nvSpPr>
        <p:spPr>
          <a:xfrm>
            <a:off x="9875520" y="6217920"/>
            <a:ext cx="1764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Everyday meal-kit concept test · 4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48640" y="1636776"/>
            <a:ext cx="155448" cy="155448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1572768"/>
            <a:ext cx="15773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Purchase intent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674620" y="1636776"/>
            <a:ext cx="155448" cy="155448"/>
          </a:xfrm>
          <a:prstGeom prst="rect">
            <a:avLst/>
          </a:prstGeom>
          <a:solidFill>
            <a:srgbClr val="8FA3BF"/>
          </a:solidFill>
          <a:ln w="12700">
            <a:solidFill>
              <a:srgbClr val="8FA3B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903220" y="1572768"/>
            <a:ext cx="1490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Overall appeal</a:t>
            </a:r>
            <a:endParaRPr lang="en-US" sz="1100" dirty="0"/>
          </a:p>
        </p:txBody>
      </p:sp>
      <p:graphicFrame>
        <p:nvGraphicFramePr>
          <p:cNvPr id="11" name="Chart 0" descr=""/>
          <p:cNvGraphicFramePr/>
          <p:nvPr/>
        </p:nvGraphicFramePr>
        <p:xfrm>
          <a:off x="548640" y="1920240"/>
          <a:ext cx="11091672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full purchase intent distribution shows no concept with a significantly larger rejecting minority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07008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this service were available at a reasonable price, how likely would you be to subscribe or try it? · % by concept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6144768"/>
            <a:ext cx="11091672" cy="0"/>
          </a:xfrm>
          <a:prstGeom prst="line">
            <a:avLst/>
          </a:prstGeom>
          <a:noFill/>
          <a:ln w="9525">
            <a:solidFill>
              <a:srgbClr val="D1D5D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6217920"/>
            <a:ext cx="9235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Base: all respondents, each shown one concept at random (Flex n=700, Plus n=700, Simple n=700). Weighted (wt_final). Bottom-two box compared pairwise, Holm-adjusted, 95%, ≥5 pts.</a:t>
            </a:r>
            <a:endParaRPr lang="en-US" sz="850" dirty="0"/>
          </a:p>
        </p:txBody>
      </p:sp>
      <p:sp>
        <p:nvSpPr>
          <p:cNvPr id="6" name="Text 4"/>
          <p:cNvSpPr txBox="1"/>
          <p:nvPr/>
        </p:nvSpPr>
        <p:spPr>
          <a:xfrm>
            <a:off x="9875520" y="6217920"/>
            <a:ext cx="1764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Everyday meal-kit concept test · 5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48640" y="1636776"/>
            <a:ext cx="155448" cy="155448"/>
          </a:xfrm>
          <a:prstGeom prst="rect">
            <a:avLst/>
          </a:prstGeom>
          <a:solidFill>
            <a:srgbClr val="D9786C"/>
          </a:solidFill>
          <a:ln w="12700">
            <a:solidFill>
              <a:srgbClr val="D9786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1572768"/>
            <a:ext cx="1929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Definitely would not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999838" y="1636776"/>
            <a:ext cx="155448" cy="155448"/>
          </a:xfrm>
          <a:prstGeom prst="rect">
            <a:avLst/>
          </a:prstGeom>
          <a:solidFill>
            <a:srgbClr val="F0C4BE"/>
          </a:solidFill>
          <a:ln w="12700">
            <a:solidFill>
              <a:srgbClr val="F0C4B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228438" y="1572768"/>
            <a:ext cx="176350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Probably would not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284705" y="1636776"/>
            <a:ext cx="155448" cy="15544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513305" y="1572768"/>
            <a:ext cx="176350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Might or might not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569572" y="1636776"/>
            <a:ext cx="155448" cy="155448"/>
          </a:xfrm>
          <a:prstGeom prst="rect">
            <a:avLst/>
          </a:prstGeom>
          <a:solidFill>
            <a:srgbClr val="A9C6E3"/>
          </a:solidFill>
          <a:ln w="12700">
            <a:solidFill>
              <a:srgbClr val="A9C6E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798172" y="1572768"/>
            <a:ext cx="143084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Probably would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9521776" y="1636776"/>
            <a:ext cx="155448" cy="155448"/>
          </a:xfrm>
          <a:prstGeom prst="rect">
            <a:avLst/>
          </a:prstGeom>
          <a:solidFill>
            <a:srgbClr val="5B8FC7"/>
          </a:solidFill>
          <a:ln w="12700">
            <a:solidFill>
              <a:srgbClr val="5B8FC7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750376" y="1572768"/>
            <a:ext cx="1597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Definitely would</a:t>
            </a:r>
            <a:endParaRPr lang="en-US" sz="1000" dirty="0"/>
          </a:p>
        </p:txBody>
      </p:sp>
      <p:graphicFrame>
        <p:nvGraphicFramePr>
          <p:cNvPr id="17" name="Chart 0" descr=""/>
          <p:cNvGraphicFramePr/>
          <p:nvPr/>
        </p:nvGraphicFramePr>
        <p:xfrm>
          <a:off x="548640" y="1965960"/>
          <a:ext cx="11091672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Among food explorers, Plus is +12 pts vs Flex on overall appeal; among other buyers it is −13 pts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07008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Overall appeal · top-two box · by food explorers (pre-specified subgroup)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6144768"/>
            <a:ext cx="11091672" cy="0"/>
          </a:xfrm>
          <a:prstGeom prst="line">
            <a:avLst/>
          </a:prstGeom>
          <a:noFill/>
          <a:ln w="9525">
            <a:solidFill>
              <a:srgbClr val="D1D5D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6217920"/>
            <a:ext cx="9235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Base: respondents in each concept cell. Flex: food explorers n=236, others n=464; Plus: food explorers n=234, others n=466; Simple: food explorers n=227, others n=473. Weighted. Interaction = difference between concepts among food explorers minus the same difference among others; Holm-adjusted across 6 pre-specified tests. This one: +24.8 pts, adjusted p=0.0000.</a:t>
            </a:r>
            <a:endParaRPr lang="en-US" sz="850" dirty="0"/>
          </a:p>
        </p:txBody>
      </p:sp>
      <p:sp>
        <p:nvSpPr>
          <p:cNvPr id="6" name="Text 4"/>
          <p:cNvSpPr txBox="1"/>
          <p:nvPr/>
        </p:nvSpPr>
        <p:spPr>
          <a:xfrm>
            <a:off x="9875520" y="6217920"/>
            <a:ext cx="1764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Everyday meal-kit concept test · 6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48640" y="1636776"/>
            <a:ext cx="155448" cy="15544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1572768"/>
            <a:ext cx="1490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Food explorers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587752" y="1636776"/>
            <a:ext cx="155448" cy="155448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816352" y="1572768"/>
            <a:ext cx="1316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buyers</a:t>
            </a:r>
            <a:endParaRPr lang="en-US" sz="1100" dirty="0"/>
          </a:p>
        </p:txBody>
      </p:sp>
      <p:graphicFrame>
        <p:nvGraphicFramePr>
          <p:cNvPr id="11" name="Chart 0" descr=""/>
          <p:cNvGraphicFramePr/>
          <p:nvPr/>
        </p:nvGraphicFramePr>
        <p:xfrm>
          <a:off x="548640" y="1920240"/>
          <a:ext cx="11091672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appeals differs by concept: Flex for flexibility / ability to pause or swap, Plus for new or unusual flavours, Simple for familiar meals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07008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aspects, if any, particularly appeal to you? Select all that apply. · % selecting · six most-mentioned items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6144768"/>
            <a:ext cx="11091672" cy="0"/>
          </a:xfrm>
          <a:prstGeom prst="line">
            <a:avLst/>
          </a:prstGeom>
          <a:noFill/>
          <a:ln w="9525">
            <a:solidFill>
              <a:srgbClr val="D1D5D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6217920"/>
            <a:ext cx="9235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Base: all respondents, each shown one concept at random (Flex n=700, Plus n=700, Simple n=700). Weighted (wt_final). Letters: significantly and materially higher than that concept (Holm, 95%, ≥5 pts). Respondents could choose several.</a:t>
            </a:r>
            <a:endParaRPr lang="en-US" sz="850" dirty="0"/>
          </a:p>
        </p:txBody>
      </p:sp>
      <p:sp>
        <p:nvSpPr>
          <p:cNvPr id="6" name="Text 4"/>
          <p:cNvSpPr txBox="1"/>
          <p:nvPr/>
        </p:nvSpPr>
        <p:spPr>
          <a:xfrm>
            <a:off x="9875520" y="6217920"/>
            <a:ext cx="1764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Everyday meal-kit concept test · 7</a:t>
            </a:r>
            <a:endParaRPr lang="en-US" sz="8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11091672" cy="914400"/>
        </p:xfrm>
        <a:graphic>
          <a:graphicData uri="http://schemas.openxmlformats.org/drawingml/2006/table">
            <a:tbl>
              <a:tblPr/>
              <a:tblGrid>
                <a:gridCol w="3959352"/>
                <a:gridCol w="2377440"/>
                <a:gridCol w="2377440"/>
                <a:gridCol w="2377440"/>
              </a:tblGrid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4B556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What appeals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b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4B556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Flex (A)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b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4B556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Plus (B)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b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4B556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Simple (C)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b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Ease / convenience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1580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52% B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30%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1580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54% B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Ingredient quality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1580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43% C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1580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45% C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34%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New or unusual flavours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27%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1580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62% AC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25%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Broad menu choice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1580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53% BC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32%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28%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Flexibility / ability to pause or swap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1580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60% BC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1580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27% C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20%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Familiar meals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1580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30% B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24%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1580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50% AB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concerns differs by concept: Flex for not different enough, Plus for too complicated, Simple for limited choice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07008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aspects, if any, concern you? Select all that apply. · % selecting · six most-mentioned items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6144768"/>
            <a:ext cx="11091672" cy="0"/>
          </a:xfrm>
          <a:prstGeom prst="line">
            <a:avLst/>
          </a:prstGeom>
          <a:noFill/>
          <a:ln w="9525">
            <a:solidFill>
              <a:srgbClr val="D1D5D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6217920"/>
            <a:ext cx="9235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Base: all respondents, each shown one concept at random (Flex n=700, Plus n=700, Simple n=700). Weighted (wt_final). Letters: significantly and materially higher than that concept (Holm, 95%, ≥5 pts). Respondents could choose several.</a:t>
            </a:r>
            <a:endParaRPr lang="en-US" sz="850" dirty="0"/>
          </a:p>
        </p:txBody>
      </p:sp>
      <p:sp>
        <p:nvSpPr>
          <p:cNvPr id="6" name="Text 4"/>
          <p:cNvSpPr txBox="1"/>
          <p:nvPr/>
        </p:nvSpPr>
        <p:spPr>
          <a:xfrm>
            <a:off x="9875520" y="6217920"/>
            <a:ext cx="1764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Everyday meal-kit concept test · 8</a:t>
            </a:r>
            <a:endParaRPr lang="en-US" sz="8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11091672" cy="914400"/>
        </p:xfrm>
        <a:graphic>
          <a:graphicData uri="http://schemas.openxmlformats.org/drawingml/2006/table">
            <a:tbl>
              <a:tblPr/>
              <a:tblGrid>
                <a:gridCol w="3959352"/>
                <a:gridCol w="2377440"/>
                <a:gridCol w="2377440"/>
                <a:gridCol w="2377440"/>
              </a:tblGrid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4B556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What concerns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b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4B556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Flex (A)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b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4B556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Plus (B)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b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4B556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Simple (C)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b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Too expensive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32%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B91C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39% A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35%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different enough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B91C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26% B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20%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B91C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41% AB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Too complicated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16%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B91C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41% AC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16%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Would not use often enough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21%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24%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24%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Unclear benefit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19%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18%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B91C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30% AB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Limited choice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15%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15%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B91C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35% AB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'Premium proposition convincing' is not comparable across concepts: only 68% of Plus respondents were asked, against 99–100% of the others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07008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 of each cell asked (Rated ease of understanding 3 or higher (Q7 &gt;= 3)) and top-two box among those asked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6144768"/>
            <a:ext cx="11091672" cy="0"/>
          </a:xfrm>
          <a:prstGeom prst="line">
            <a:avLst/>
          </a:prstGeom>
          <a:noFill/>
          <a:ln w="9525">
            <a:solidFill>
              <a:srgbClr val="D1D5D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6217920"/>
            <a:ext cx="9235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Base: respondents in each concept cell; top-two box among those asked (Flex n=694, Plus n=483, Simple n=698). Weighted. Because the routed base differs by concept, compare the top-two box figures with caution.</a:t>
            </a:r>
            <a:endParaRPr lang="en-US" sz="850" dirty="0"/>
          </a:p>
        </p:txBody>
      </p:sp>
      <p:sp>
        <p:nvSpPr>
          <p:cNvPr id="6" name="Text 4"/>
          <p:cNvSpPr txBox="1"/>
          <p:nvPr/>
        </p:nvSpPr>
        <p:spPr>
          <a:xfrm>
            <a:off x="9875520" y="6217920"/>
            <a:ext cx="1764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Everyday meal-kit concept test · 9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48640" y="1636776"/>
            <a:ext cx="155448" cy="155448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1572768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Asked the question (% of cell)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977640" y="1636776"/>
            <a:ext cx="155448" cy="155448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206240" y="1572768"/>
            <a:ext cx="27934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Top-two box among those asked</a:t>
            </a:r>
            <a:endParaRPr lang="en-US" sz="1100" dirty="0"/>
          </a:p>
        </p:txBody>
      </p:sp>
      <p:graphicFrame>
        <p:nvGraphicFramePr>
          <p:cNvPr id="11" name="Chart 0" descr=""/>
          <p:cNvGraphicFramePr/>
          <p:nvPr/>
        </p:nvGraphicFramePr>
        <p:xfrm>
          <a:off x="548640" y="1920240"/>
          <a:ext cx="11091672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About this study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48640" y="6144768"/>
            <a:ext cx="11091672" cy="0"/>
          </a:xfrm>
          <a:prstGeom prst="line">
            <a:avLst/>
          </a:prstGeom>
          <a:noFill/>
          <a:ln w="9525">
            <a:solidFill>
              <a:srgbClr val="D1D5D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6217920"/>
            <a:ext cx="9235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Synthetic randomised monadic concept test (SBT-002); concepts and figures are fictitious.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9875520" y="6217920"/>
            <a:ext cx="1764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Everyday meal-kit concept test · 10</a:t>
            </a:r>
            <a:endParaRPr lang="en-US" sz="8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37160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Sample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2743200" y="1371600"/>
            <a:ext cx="8869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UK adults aged 18-64 open to using a meal-kit delivery service in the next 12 months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24028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2743200" y="2240280"/>
            <a:ext cx="8869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Randomised monadic: each respondent saw one of 3 concepts (Flex n=700, Plus n=700, Simple n=700).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310896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Weighting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2743200" y="3108960"/>
            <a:ext cx="8869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wt_final. Percentages are weighted; bases are unweighted.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397764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Tests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2743200" y="3977640"/>
            <a:ext cx="8869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Wald tests on Kish effective bases. Pairwise concept comparisons are Holm-adjusted within each measure. A difference is 'material' at 5 pts or more.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484632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Subgroups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2743200" y="4846320"/>
            <a:ext cx="8869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Food explorers is the pre-specified subgroup; interactions are Holm-adjusted as one family. Other cuts are exploratory (tables only).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Everyday meal-kit concept test</dc:title>
  <dc:subject>PptxGenJS Presentation</dc:subject>
  <dc:creator>PptxGenJS</dc:creator>
  <cp:lastModifiedBy>PptxGenJS</cp:lastModifiedBy>
  <cp:revision>1</cp:revision>
  <dcterms:created xsi:type="dcterms:W3CDTF">2026-09-23T22:29:15Z</dcterms:created>
  <dcterms:modified xsi:type="dcterms:W3CDTF">2026-09-23T22:29:15Z</dcterms:modified>
</cp:coreProperties>
</file>