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dPt>
            <c:idx val="2"/>
            <c:invertIfNegative val="0"/>
            <c:bubble3D val="0"/>
            <c:spPr>
              <a:solidFill>
                <a:srgbClr val="4F46E5"/>
              </a:solidFill>
              <a:effectLst/>
            </c:spPr>
          </c:dPt>
          <c:dPt>
            <c:idx val="3"/>
            <c:invertIfNegative val="0"/>
            <c:bubble3D val="0"/>
            <c:spPr>
              <a:solidFill>
                <a:srgbClr val="10B981"/>
              </a:solidFill>
              <a:effectLst/>
            </c:spPr>
          </c:dPt>
          <c:cat>
            <c:multiLvlStrRef>
              <c:f>Sheet1!$A$2:$A$5</c:f>
              <c:multiLvlStrCache>
                <c:ptCount val="4"/>
                <c:lvl>
                  <c:pt idx="0">
                    <c:v>very poor, poor</c:v>
                  </c:pt>
                  <c:pt idx="1">
                    <c:v>fair</c:v>
                  </c:pt>
                  <c:pt idx="2">
                    <c:v>good</c:v>
                  </c:pt>
                  <c:pt idx="3">
                    <c:v>very good, excellent</c:v>
                  </c:pt>
                </c:lvl>
              </c:multiLvlStrCache>
            </c:multiLvlStrRef>
          </c:cat>
          <c:val>
            <c:numRef>
              <c:f>Sheet1!$B$2:$B$5</c:f>
              <c:numCache>
                <c:formatCode>General</c:formatCode>
                <c:ptCount val="4"/>
                <c:pt idx="0">
                  <c:v>13.432835820895523</c:v>
                </c:pt>
                <c:pt idx="1">
                  <c:v>27.985074626865668</c:v>
                </c:pt>
                <c:pt idx="2">
                  <c:v>33.582089552238806</c:v>
                </c:pt>
                <c:pt idx="3">
                  <c:v>25</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cat>
            <c:multiLvlStrRef>
              <c:f>Sheet1!$A$2:$A$3</c:f>
              <c:multiLvlStrCache>
                <c:ptCount val="2"/>
                <c:lvl>
                  <c:pt idx="0">
                    <c:v>no</c:v>
                  </c:pt>
                  <c:pt idx="1">
                    <c:v>yes</c:v>
                  </c:pt>
                </c:lvl>
              </c:multiLvlStrCache>
            </c:multiLvlStrRef>
          </c:cat>
          <c:val>
            <c:numRef>
              <c:f>Sheet1!$B$2:$B$3</c:f>
              <c:numCache>
                <c:formatCode>General</c:formatCode>
                <c:ptCount val="2"/>
                <c:pt idx="0">
                  <c:v>56.50557620817844</c:v>
                </c:pt>
                <c:pt idx="1">
                  <c:v>43.49442379182156</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&lt;= 37</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yes</c:v>
                  </c:pt>
                  <c:pt idx="1">
                    <c:v>no</c:v>
                  </c:pt>
                </c:lvl>
              </c:multiLvlStrCache>
            </c:multiLvlStrRef>
          </c:cat>
          <c:val>
            <c:numRef>
              <c:f>Sheet1!$B$2:$B$3</c:f>
              <c:numCache>
                <c:formatCode>General</c:formatCode>
                <c:ptCount val="2"/>
                <c:pt idx="0">
                  <c:v>65.06024096385542</c:v>
                </c:pt>
                <c:pt idx="1">
                  <c:v>34.93975903614458</c:v>
                </c:pt>
              </c:numCache>
            </c:numRef>
          </c:val>
        </c:ser>
        <c:ser>
          <c:idx val="1"/>
          <c:order val="1"/>
          <c:tx>
            <c:strRef>
              <c:f>Sheet1!$C$1</c:f>
              <c:strCache>
                <c:ptCount val="1"/>
                <c:pt idx="0">
                  <c:v>38 - 50</c:v>
                </c:pt>
              </c:strCache>
            </c:strRef>
          </c:tx>
          <c:spPr>
            <a:solidFill>
              <a:srgbClr val="1C1C1C"/>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yes</c:v>
                  </c:pt>
                  <c:pt idx="1">
                    <c:v>no</c:v>
                  </c:pt>
                </c:lvl>
              </c:multiLvlStrCache>
            </c:multiLvlStrRef>
          </c:cat>
          <c:val>
            <c:numRef>
              <c:f>Sheet1!$C$2:$C$3</c:f>
              <c:numCache>
                <c:formatCode>General</c:formatCode>
                <c:ptCount val="2"/>
                <c:pt idx="0">
                  <c:v>79.06976744186046</c:v>
                </c:pt>
                <c:pt idx="1">
                  <c:v>20.930232558139537</c:v>
                </c:pt>
              </c:numCache>
            </c:numRef>
          </c:val>
        </c:ser>
        <c:ser>
          <c:idx val="2"/>
          <c:order val="2"/>
          <c:tx>
            <c:strRef>
              <c:f>Sheet1!$D$1</c:f>
              <c:strCache>
                <c:ptCount val="1"/>
                <c:pt idx="0">
                  <c:v>51+</c:v>
                </c:pt>
              </c:strCache>
            </c:strRef>
          </c:tx>
          <c:spPr>
            <a:solidFill>
              <a:srgbClr val="4F46E5"/>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yes</c:v>
                  </c:pt>
                  <c:pt idx="1">
                    <c:v>no</c:v>
                  </c:pt>
                </c:lvl>
              </c:multiLvlStrCache>
            </c:multiLvlStrRef>
          </c:cat>
          <c:val>
            <c:numRef>
              <c:f>Sheet1!$D$2:$D$3</c:f>
              <c:numCache>
                <c:formatCode>General</c:formatCode>
                <c:ptCount val="2"/>
                <c:pt idx="0">
                  <c:v>91.13924050632912</c:v>
                </c:pt>
                <c:pt idx="1">
                  <c:v>8.860759493670885</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HADS Anxiety</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cat>
            <c:multiLvlStrRef>
              <c:f>Sheet1!$A$2:$A$3</c:f>
              <c:multiLvlStrCache>
                <c:ptCount val="2"/>
                <c:lvl>
                  <c:pt idx="0">
                    <c:v>0</c:v>
                  </c:pt>
                  <c:pt idx="1">
                    <c:v>1</c:v>
                  </c:pt>
                </c:lvl>
              </c:multiLvlStrCache>
            </c:multiLvlStrRef>
          </c:cat>
          <c:val>
            <c:numRef>
              <c:f>Sheet1!$B$2:$B$3</c:f>
              <c:numCache>
                <c:formatCode>General</c:formatCode>
                <c:ptCount val="2"/>
                <c:pt idx="0">
                  <c:v>54.850746268656714</c:v>
                </c:pt>
                <c:pt idx="1">
                  <c:v>45.149253731343286</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HADS Anxiety</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dPt>
            <c:idx val="2"/>
            <c:invertIfNegative val="0"/>
            <c:bubble3D val="0"/>
            <c:spPr>
              <a:solidFill>
                <a:srgbClr val="4F46E5"/>
              </a:solidFill>
              <a:effectLst/>
            </c:spPr>
          </c:dPt>
          <c:dPt>
            <c:idx val="3"/>
            <c:invertIfNegative val="0"/>
            <c:bubble3D val="0"/>
            <c:spPr>
              <a:solidFill>
                <a:srgbClr val="10B981"/>
              </a:solidFill>
              <a:effectLst/>
            </c:spPr>
          </c:dPt>
          <c:cat>
            <c:multiLvlStrRef>
              <c:f>Sheet1!$A$2:$A$5</c:f>
              <c:multiLvlStrCache>
                <c:ptCount val="4"/>
                <c:lvl>
                  <c:pt idx="0">
                    <c:v>1</c:v>
                  </c:pt>
                  <c:pt idx="1">
                    <c:v>2</c:v>
                  </c:pt>
                  <c:pt idx="2">
                    <c:v>3</c:v>
                  </c:pt>
                  <c:pt idx="3">
                    <c:v>4</c:v>
                  </c:pt>
                </c:lvl>
              </c:multiLvlStrCache>
            </c:multiLvlStrRef>
          </c:cat>
          <c:val>
            <c:numRef>
              <c:f>Sheet1!$B$2:$B$5</c:f>
              <c:numCache>
                <c:formatCode>General</c:formatCode>
                <c:ptCount val="4"/>
                <c:pt idx="0">
                  <c:v>13.584905660377359</c:v>
                </c:pt>
                <c:pt idx="1">
                  <c:v>27.547169811320753</c:v>
                </c:pt>
                <c:pt idx="2">
                  <c:v>33.9622641509434</c:v>
                </c:pt>
                <c:pt idx="3">
                  <c:v>24.90566037735849</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HADS Depression</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dPt>
            <c:idx val="2"/>
            <c:invertIfNegative val="0"/>
            <c:bubble3D val="0"/>
            <c:spPr>
              <a:solidFill>
                <a:srgbClr val="4F46E5"/>
              </a:solidFill>
              <a:effectLst/>
            </c:spPr>
          </c:dPt>
          <c:dPt>
            <c:idx val="3"/>
            <c:invertIfNegative val="0"/>
            <c:bubble3D val="0"/>
            <c:spPr>
              <a:solidFill>
                <a:srgbClr val="10B981"/>
              </a:solidFill>
              <a:effectLst/>
            </c:spPr>
          </c:dPt>
          <c:cat>
            <c:multiLvlStrRef>
              <c:f>Sheet1!$A$2:$A$5</c:f>
              <c:multiLvlStrCache>
                <c:ptCount val="4"/>
                <c:lvl>
                  <c:pt idx="0">
                    <c:v>1</c:v>
                  </c:pt>
                  <c:pt idx="1">
                    <c:v>2</c:v>
                  </c:pt>
                  <c:pt idx="2">
                    <c:v>3</c:v>
                  </c:pt>
                  <c:pt idx="3">
                    <c:v>4</c:v>
                  </c:pt>
                </c:lvl>
              </c:multiLvlStrCache>
            </c:multiLvlStrRef>
          </c:cat>
          <c:val>
            <c:numRef>
              <c:f>Sheet1!$B$2:$B$5</c:f>
              <c:numCache>
                <c:formatCode>General</c:formatCode>
                <c:ptCount val="4"/>
                <c:pt idx="0">
                  <c:v>13.533834586466165</c:v>
                </c:pt>
                <c:pt idx="1">
                  <c:v>27.819548872180448</c:v>
                </c:pt>
                <c:pt idx="2">
                  <c:v>33.83458646616541</c:v>
                </c:pt>
                <c:pt idx="3">
                  <c:v>24.81203007518797</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not at all</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Sheet1!$B$2:$B$3</c:f>
              <c:numCache>
                <c:formatCode>General</c:formatCode>
                <c:ptCount val="2"/>
                <c:pt idx="0">
                  <c:v>58.333333333333336</c:v>
                </c:pt>
                <c:pt idx="1">
                  <c:v>41.66666666666667</c:v>
                </c:pt>
              </c:numCache>
            </c:numRef>
          </c:val>
        </c:ser>
        <c:ser>
          <c:idx val="1"/>
          <c:order val="1"/>
          <c:tx>
            <c:strRef>
              <c:f>Sheet1!$C$1</c:f>
              <c:strCache>
                <c:ptCount val="1"/>
                <c:pt idx="0">
                  <c:v>extremely stressed</c:v>
                </c:pt>
              </c:strCache>
            </c:strRef>
          </c:tx>
          <c:spPr>
            <a:solidFill>
              <a:srgbClr val="1C1C1C"/>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Sheet1!$C$2:$C$3</c:f>
              <c:numCache>
                <c:formatCode>General</c:formatCode>
                <c:ptCount val="2"/>
                <c:pt idx="0">
                  <c:v>16.666666666666664</c:v>
                </c:pt>
                <c:pt idx="1">
                  <c:v>83.33333333333334</c:v>
                </c:pt>
              </c:numCache>
            </c:numRef>
          </c:val>
        </c:ser>
        <c:ser>
          <c:idx val="2"/>
          <c:order val="2"/>
          <c:tx>
            <c:strRef>
              <c:f>Sheet1!$D$1</c:f>
              <c:strCache>
                <c:ptCount val="1"/>
                <c:pt idx="0">
                  <c:v>2</c:v>
                </c:pt>
              </c:strCache>
            </c:strRef>
          </c:tx>
          <c:spPr>
            <a:solidFill>
              <a:srgbClr val="4F46E5"/>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Sheet1!$D$2:$D$3</c:f>
              <c:numCache>
                <c:formatCode>General</c:formatCode>
                <c:ptCount val="2"/>
                <c:pt idx="0">
                  <c:v>96.15384615384616</c:v>
                </c:pt>
                <c:pt idx="1">
                  <c:v>3.8461538461538463</c:v>
                </c:pt>
              </c:numCache>
            </c:numRef>
          </c:val>
        </c:ser>
        <c:ser>
          <c:idx val="3"/>
          <c:order val="3"/>
          <c:tx>
            <c:strRef>
              <c:f>Sheet1!$E$1</c:f>
              <c:strCache>
                <c:ptCount val="1"/>
                <c:pt idx="0">
                  <c:v>3</c:v>
                </c:pt>
              </c:strCache>
            </c:strRef>
          </c:tx>
          <c:spPr>
            <a:solidFill>
              <a:srgbClr val="10B981"/>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Sheet1!$E$2:$E$3</c:f>
              <c:numCache>
                <c:formatCode>General</c:formatCode>
                <c:ptCount val="2"/>
                <c:pt idx="0">
                  <c:v>69.23076923076923</c:v>
                </c:pt>
                <c:pt idx="1">
                  <c:v>30.76923076923077</c:v>
                </c:pt>
              </c:numCache>
            </c:numRef>
          </c:val>
        </c:ser>
        <c:ser>
          <c:idx val="4"/>
          <c:order val="4"/>
          <c:tx>
            <c:strRef>
              <c:f>Sheet1!$F$1</c:f>
              <c:strCache>
                <c:ptCount val="1"/>
                <c:pt idx="0">
                  <c:v>4</c:v>
                </c:pt>
              </c:strCache>
            </c:strRef>
          </c:tx>
          <c:spPr>
            <a:solidFill>
              <a:srgbClr val="F59E0B"/>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Sheet1!$F$2:$F$3</c:f>
              <c:numCache>
                <c:formatCode>General</c:formatCode>
                <c:ptCount val="2"/>
                <c:pt idx="0">
                  <c:v>65.21739130434783</c:v>
                </c:pt>
                <c:pt idx="1">
                  <c:v>34.78260869565217</c:v>
                </c:pt>
              </c:numCache>
            </c:numRef>
          </c:val>
        </c:ser>
        <c:ser>
          <c:idx val="5"/>
          <c:order val="5"/>
          <c:tx>
            <c:strRef>
              <c:f>Sheet1!$G$1</c:f>
              <c:strCache>
                <c:ptCount val="1"/>
                <c:pt idx="0">
                  <c:v>5</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Sheet1!$G$2:$G$3</c:f>
              <c:numCache>
                <c:formatCode>General</c:formatCode>
                <c:ptCount val="2"/>
                <c:pt idx="0">
                  <c:v>68.96551724137932</c:v>
                </c:pt>
                <c:pt idx="1">
                  <c:v>31.03448275862069</c:v>
                </c:pt>
              </c:numCache>
            </c:numRef>
          </c:val>
        </c:ser>
        <c:ser>
          <c:idx val="6"/>
          <c:order val="6"/>
          <c:tx>
            <c:strRef>
              <c:f>Sheet1!$H$1</c:f>
              <c:strCache>
                <c:ptCount val="1"/>
                <c:pt idx="0">
                  <c:v>6</c:v>
                </c:pt>
              </c:strCache>
            </c:strRef>
          </c:tx>
          <c:spPr>
            <a:solidFill>
              <a:srgbClr val="1C1C1C"/>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Sheet1!$H$2:$H$3</c:f>
              <c:numCache>
                <c:formatCode>General</c:formatCode>
                <c:ptCount val="2"/>
                <c:pt idx="0">
                  <c:v>52</c:v>
                </c:pt>
                <c:pt idx="1">
                  <c:v>48</c:v>
                </c:pt>
              </c:numCache>
            </c:numRef>
          </c:val>
        </c:ser>
        <c:ser>
          <c:idx val="7"/>
          <c:order val="7"/>
          <c:tx>
            <c:strRef>
              <c:f>Sheet1!$I$1</c:f>
              <c:strCache>
                <c:ptCount val="1"/>
                <c:pt idx="0">
                  <c:v>7</c:v>
                </c:pt>
              </c:strCache>
            </c:strRef>
          </c:tx>
          <c:spPr>
            <a:solidFill>
              <a:srgbClr val="4F46E5"/>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Sheet1!$I$2:$I$3</c:f>
              <c:numCache>
                <c:formatCode>General</c:formatCode>
                <c:ptCount val="2"/>
                <c:pt idx="0">
                  <c:v>43.75</c:v>
                </c:pt>
                <c:pt idx="1">
                  <c:v>56.25</c:v>
                </c:pt>
              </c:numCache>
            </c:numRef>
          </c:val>
        </c:ser>
        <c:ser>
          <c:idx val="8"/>
          <c:order val="8"/>
          <c:tx>
            <c:strRef>
              <c:f>Sheet1!$J$1</c:f>
              <c:strCache>
                <c:ptCount val="1"/>
                <c:pt idx="0">
                  <c:v>7.5</c:v>
                </c:pt>
              </c:strCache>
            </c:strRef>
          </c:tx>
          <c:spPr>
            <a:solidFill>
              <a:srgbClr val="10B981"/>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Sheet1!$J$2:$J$3</c:f>
              <c:numCache>
                <c:formatCode>General</c:formatCode>
                <c:ptCount val="2"/>
                <c:pt idx="0">
                  <c:v>100</c:v>
                </c:pt>
                <c:pt idx="1">
                  <c:v>0</c:v>
                </c:pt>
              </c:numCache>
            </c:numRef>
          </c:val>
        </c:ser>
        <c:ser>
          <c:idx val="9"/>
          <c:order val="9"/>
          <c:tx>
            <c:strRef>
              <c:f>Sheet1!$K$1</c:f>
              <c:strCache>
                <c:ptCount val="1"/>
                <c:pt idx="0">
                  <c:v>8</c:v>
                </c:pt>
              </c:strCache>
            </c:strRef>
          </c:tx>
          <c:spPr>
            <a:solidFill>
              <a:srgbClr val="F59E0B"/>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Sheet1!$K$2:$K$3</c:f>
              <c:numCache>
                <c:formatCode>General</c:formatCode>
                <c:ptCount val="2"/>
                <c:pt idx="0">
                  <c:v>44.230769230769226</c:v>
                </c:pt>
                <c:pt idx="1">
                  <c:v>55.769230769230774</c:v>
                </c:pt>
              </c:numCache>
            </c:numRef>
          </c:val>
        </c:ser>
        <c:ser>
          <c:idx val="10"/>
          <c:order val="10"/>
          <c:tx>
            <c:strRef>
              <c:f>Sheet1!$L$1</c:f>
              <c:strCache>
                <c:ptCount val="1"/>
                <c:pt idx="0">
                  <c:v>9</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cat>
            <c:multiLvlStrRef>
              <c:f>Sheet1!$A$2:$A$3</c:f>
              <c:multiLvlStrCache>
                <c:ptCount val="2"/>
                <c:lvl>
                  <c:pt idx="0">
                    <c:v>no</c:v>
                  </c:pt>
                  <c:pt idx="1">
                    <c:v>yes</c:v>
                  </c:pt>
                </c:lvl>
              </c:multiLvlStrCache>
            </c:multiLvlStrRef>
          </c:cat>
          <c:val>
            <c:numRef>
              <c:f>Sheet1!$L$2:$L$3</c:f>
              <c:numCache>
                <c:formatCode>General</c:formatCode>
                <c:ptCount val="2"/>
                <c:pt idx="0">
                  <c:v>38.095238095238095</c:v>
                </c:pt>
                <c:pt idx="1">
                  <c:v>61.904761904761905</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dPt>
            <c:idx val="2"/>
            <c:invertIfNegative val="0"/>
            <c:bubble3D val="0"/>
            <c:spPr>
              <a:solidFill>
                <a:srgbClr val="4F46E5"/>
              </a:solidFill>
              <a:effectLst/>
            </c:spPr>
          </c:dPt>
          <c:dPt>
            <c:idx val="3"/>
            <c:invertIfNegative val="0"/>
            <c:bubble3D val="0"/>
            <c:spPr>
              <a:solidFill>
                <a:srgbClr val="10B981"/>
              </a:solidFill>
              <a:effectLst/>
            </c:spPr>
          </c:dPt>
          <c:dPt>
            <c:idx val="4"/>
            <c:invertIfNegative val="0"/>
            <c:bubble3D val="0"/>
            <c:spPr>
              <a:solidFill>
                <a:srgbClr val="F59E0B"/>
              </a:solidFill>
              <a:effectLst/>
            </c:spPr>
          </c:dPt>
          <c:dPt>
            <c:idx val="5"/>
            <c:invertIfNegative val="0"/>
            <c:bubble3D val="0"/>
            <c:spPr>
              <a:solidFill>
                <a:srgbClr val="E07A5F"/>
              </a:solidFill>
              <a:effectLst/>
            </c:spPr>
          </c:dPt>
          <c:dPt>
            <c:idx val="6"/>
            <c:invertIfNegative val="0"/>
            <c:bubble3D val="0"/>
            <c:spPr>
              <a:solidFill>
                <a:srgbClr val="1C1C1C"/>
              </a:solidFill>
              <a:effectLst/>
            </c:spPr>
          </c:dPt>
          <c:dPt>
            <c:idx val="7"/>
            <c:invertIfNegative val="0"/>
            <c:bubble3D val="0"/>
            <c:spPr>
              <a:solidFill>
                <a:srgbClr val="4F46E5"/>
              </a:solidFill>
              <a:effectLst/>
            </c:spPr>
          </c:dPt>
          <c:dPt>
            <c:idx val="8"/>
            <c:invertIfNegative val="0"/>
            <c:bubble3D val="0"/>
            <c:spPr>
              <a:solidFill>
                <a:srgbClr val="10B981"/>
              </a:solidFill>
              <a:effectLst/>
            </c:spPr>
          </c:dPt>
          <c:dPt>
            <c:idx val="9"/>
            <c:invertIfNegative val="0"/>
            <c:bubble3D val="0"/>
            <c:spPr>
              <a:solidFill>
                <a:srgbClr val="F59E0B"/>
              </a:solidFill>
              <a:effectLst/>
            </c:spPr>
          </c:dPt>
          <c:cat>
            <c:multiLvlStrRef>
              <c:f>Sheet1!$A$2:$A$11</c:f>
              <c:multiLvlStrCache>
                <c:ptCount val="10"/>
                <c:lvl>
                  <c:pt idx="0">
                    <c:v>not at all</c:v>
                  </c:pt>
                  <c:pt idx="1">
                    <c:v>2</c:v>
                  </c:pt>
                  <c:pt idx="2">
                    <c:v>3</c:v>
                  </c:pt>
                  <c:pt idx="3">
                    <c:v>4</c:v>
                  </c:pt>
                  <c:pt idx="4">
                    <c:v>5</c:v>
                  </c:pt>
                  <c:pt idx="5">
                    <c:v>6</c:v>
                  </c:pt>
                  <c:pt idx="6">
                    <c:v>7</c:v>
                  </c:pt>
                  <c:pt idx="7">
                    <c:v>8</c:v>
                  </c:pt>
                  <c:pt idx="8">
                    <c:v>9</c:v>
                  </c:pt>
                  <c:pt idx="9">
                    <c:v>to a great extent</c:v>
                  </c:pt>
                </c:lvl>
              </c:multiLvlStrCache>
            </c:multiLvlStrRef>
          </c:cat>
          <c:val>
            <c:numRef>
              <c:f>Sheet1!$B$2:$B$11</c:f>
              <c:numCache>
                <c:formatCode>General</c:formatCode>
                <c:ptCount val="10"/>
                <c:pt idx="0">
                  <c:v>0.8928571428571428</c:v>
                </c:pt>
                <c:pt idx="1">
                  <c:v>7.142857142857142</c:v>
                </c:pt>
                <c:pt idx="2">
                  <c:v>4.464285714285714</c:v>
                </c:pt>
                <c:pt idx="3">
                  <c:v>5.357142857142857</c:v>
                </c:pt>
                <c:pt idx="4">
                  <c:v>3.571428571428571</c:v>
                </c:pt>
                <c:pt idx="5">
                  <c:v>15.178571428571427</c:v>
                </c:pt>
                <c:pt idx="6">
                  <c:v>25.892857142857146</c:v>
                </c:pt>
                <c:pt idx="7">
                  <c:v>20.535714285714285</c:v>
                </c:pt>
                <c:pt idx="8">
                  <c:v>8.928571428571429</c:v>
                </c:pt>
                <c:pt idx="9">
                  <c:v>8.035714285714286</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epworth sleepiness scale</c:v>
                </c:pt>
              </c:strCache>
            </c:strRef>
          </c:tx>
          <c:spPr>
            <a:solidFill>
              <a:srgbClr val="E07A5F"/>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1C1C1C"/>
              </a:solidFill>
              <a:effectLst/>
            </c:spPr>
          </c:dPt>
          <c:dPt>
            <c:idx val="2"/>
            <c:invertIfNegative val="0"/>
            <c:bubble3D val="0"/>
            <c:spPr>
              <a:solidFill>
                <a:srgbClr val="4F46E5"/>
              </a:solidFill>
              <a:effectLst/>
            </c:spPr>
          </c:dPt>
          <c:cat>
            <c:multiLvlStrRef>
              <c:f>Sheet1!$A$2:$A$4</c:f>
              <c:multiLvlStrCache>
                <c:ptCount val="3"/>
                <c:lvl>
                  <c:pt idx="0">
                    <c:v>1</c:v>
                  </c:pt>
                  <c:pt idx="1">
                    <c:v>2</c:v>
                  </c:pt>
                  <c:pt idx="2">
                    <c:v>3</c:v>
                  </c:pt>
                </c:lvl>
              </c:multiLvlStrCache>
            </c:multiLvlStrRef>
          </c:cat>
          <c:val>
            <c:numRef>
              <c:f>Sheet1!$B$2:$B$4</c:f>
              <c:numCache>
                <c:formatCode>General</c:formatCode>
                <c:ptCount val="3"/>
                <c:pt idx="0">
                  <c:v>34.91379310344828</c:v>
                </c:pt>
                <c:pt idx="1">
                  <c:v>34.91379310344828</c:v>
                </c:pt>
                <c:pt idx="2">
                  <c:v>30.17241379310345</c:v>
                </c:pt>
              </c:numCache>
            </c:numRef>
          </c:val>
        </c:ser>
        <c:dLbls>
          <c:numFmt formatCode="0.0&quot;%&quot;" sourceLinked="0"/>
          <c:txPr>
            <a:bodyPr/>
            <a:lstStyle/>
            <a:p>
              <a:pPr>
                <a:defRPr b="0" i="0" strike="noStrike" sz="1000" u="none">
                  <a:solidFill>
                    <a:srgbClr val="333333"/>
                  </a:solidFill>
                  <a:latin typeface="Atkinson Hyperlegible"/>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one-third of valid respondents report good sleep and another 28% report fair sleep, while 13% fall into the very poor or poor category. The sample therefore looks mixed rather than uniformly well rested.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43.5% of valid respondents say they have a sleep problem. That creates a substantial subgroup for examining where sleep disruption shows up most clearly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 reporting waking during the night rises from 65.1% among the youngest group to 91.1% among adults aged 51+, with a chi-square p-value below 0.001. This is the clearest demographic gradient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HADS anxiety is 7.1 for women versus 5.4 for men in this dataset. The gap is descriptive rather than explanatory, but it provides context for later slides that connect sleep quality to mental-health strain.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anxiety rises from 4.7 among people with very good or excellent sleep to 8.3 among those with poor sleep. That roughly 3.5-point spread makes the anxiety-sleep link one of the strongest stories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Depression scores also rise as reported sleep quality worsens, moving from 2.3 in the best-sleep group to 5.1 in the worst-sleep group. The slope is gentler than it is for anxiety, suggesting anxiety is the sharper mental-health correlate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3.8% of respondents at stress score 2 report a sleep problem, compared with 61.9% at stress score 9 and 83.3% at the maximum stress point. Even with the rough scale labels, the direction is strong and highly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sleep-problem subgroup, energy has the highest average impact score of the seven downstream life domains at 6.5 out of 10. Mood, concentration, and overall well-being also score high, but energy stands out as the clearest day-to-day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Epworth sleepiness scores are present across the full sample, not concentrated in a single age band. Older adults have the highest average score at 7.2, but the bigger age story remains nighttime disruption rather than a dramatic daytime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0"/>
            <a:ext cx="10972800" cy="0"/>
          </a:xfrm>
          <a:prstGeom prst="rect">
            <a:avLst/>
          </a:prstGeom>
          <a:noFill/>
          <a:ln/>
        </p:spPr>
        <p:txBody>
          <a:bodyPr wrap="square" rtlCol="0" anchor="ctr"/>
          <a:lstStyle/>
          <a:p>
            <a:pPr indent="0" marL="0">
              <a:buNone/>
            </a:pPr>
            <a:r>
              <a:rPr lang="en-US" sz="2800" b="1" dirty="0">
                <a:solidFill>
                  <a:srgbClr val="1C1C1C"/>
                </a:solidFill>
                <a:latin typeface="Atkinson Hyperlegible" pitchFamily="34" charset="0"/>
                <a:ea typeface="Atkinson Hyperlegible" pitchFamily="34" charset="-122"/>
                <a:cs typeface="Atkinson Hyperlegible" pitchFamily="34" charset="-120"/>
              </a:rPr>
              <a:t>Sleep Health Study: Sleep Quality, Mental Health, and Daily Impact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011680"/>
            <a:ext cx="10789920" cy="1097280"/>
          </a:xfrm>
          <a:prstGeom prst="rect">
            <a:avLst/>
          </a:prstGeom>
          <a:noFill/>
          <a:ln/>
        </p:spPr>
        <p:txBody>
          <a:bodyPr wrap="square" rtlCol="0" anchor="ctr"/>
          <a:lstStyle/>
          <a:p>
            <a:pPr algn="ctr" indent="0" marL="0">
              <a:buNone/>
            </a:pPr>
            <a:r>
              <a:rPr lang="en-US" sz="2800" b="1" dirty="0">
                <a:solidFill>
                  <a:srgbClr val="E07A5F"/>
                </a:solidFill>
                <a:latin typeface="Atkinson Hyperlegible" pitchFamily="34" charset="0"/>
                <a:ea typeface="Atkinson Hyperlegible" pitchFamily="34" charset="-122"/>
                <a:cs typeface="Atkinson Hyperlegible" pitchFamily="34" charset="-120"/>
              </a:rPr>
              <a:t>Sleep Profile</a:t>
            </a:r>
            <a:endParaRPr lang="en-US" sz="2800" dirty="0"/>
          </a:p>
        </p:txBody>
      </p:sp>
      <p:sp>
        <p:nvSpPr>
          <p:cNvPr id="3" name="Text 1"/>
          <p:cNvSpPr/>
          <p:nvPr/>
        </p:nvSpPr>
        <p:spPr>
          <a:xfrm>
            <a:off x="548640" y="3246120"/>
            <a:ext cx="10789920" cy="0"/>
          </a:xfrm>
          <a:prstGeom prst="rect">
            <a:avLst/>
          </a:prstGeom>
          <a:noFill/>
          <a:ln/>
        </p:spPr>
        <p:txBody>
          <a:bodyPr wrap="square" rtlCol="0" anchor="ctr"/>
          <a:lstStyle/>
          <a:p>
            <a:pPr algn="ctr" indent="0" marL="0">
              <a:buNone/>
            </a:pPr>
            <a:r>
              <a:rPr lang="en-US" sz="1100" dirty="0">
                <a:solidFill>
                  <a:srgbClr val="1C1C1C"/>
                </a:solidFill>
                <a:latin typeface="Atkinson Hyperlegible" pitchFamily="34" charset="0"/>
                <a:ea typeface="Atkinson Hyperlegible" pitchFamily="34" charset="-122"/>
                <a:cs typeface="Atkinson Hyperlegible" pitchFamily="34" charset="-120"/>
              </a:rPr>
              <a:t>Section Divider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Good or Fair Sleep Is Common, but Poor Sleep Is Not Rare</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Nearly Half of Respondents Report Having a Sleep Problem</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Night Waking Rises Sharply With Age</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011680"/>
            <a:ext cx="10789920" cy="1097280"/>
          </a:xfrm>
          <a:prstGeom prst="rect">
            <a:avLst/>
          </a:prstGeom>
          <a:noFill/>
          <a:ln/>
        </p:spPr>
        <p:txBody>
          <a:bodyPr wrap="square" rtlCol="0" anchor="ctr"/>
          <a:lstStyle/>
          <a:p>
            <a:pPr algn="ctr" indent="0" marL="0">
              <a:buNone/>
            </a:pPr>
            <a:r>
              <a:rPr lang="en-US" sz="2800" b="1" dirty="0">
                <a:solidFill>
                  <a:srgbClr val="E07A5F"/>
                </a:solidFill>
                <a:latin typeface="Atkinson Hyperlegible" pitchFamily="34" charset="0"/>
                <a:ea typeface="Atkinson Hyperlegible" pitchFamily="34" charset="-122"/>
                <a:cs typeface="Atkinson Hyperlegible" pitchFamily="34" charset="-120"/>
              </a:rPr>
              <a:t>Mental Health Links</a:t>
            </a:r>
            <a:endParaRPr lang="en-US" sz="2800" dirty="0"/>
          </a:p>
        </p:txBody>
      </p:sp>
      <p:sp>
        <p:nvSpPr>
          <p:cNvPr id="3" name="Text 1"/>
          <p:cNvSpPr/>
          <p:nvPr/>
        </p:nvSpPr>
        <p:spPr>
          <a:xfrm>
            <a:off x="548640" y="3246120"/>
            <a:ext cx="10789920" cy="0"/>
          </a:xfrm>
          <a:prstGeom prst="rect">
            <a:avLst/>
          </a:prstGeom>
          <a:noFill/>
          <a:ln/>
        </p:spPr>
        <p:txBody>
          <a:bodyPr wrap="square" rtlCol="0" anchor="ctr"/>
          <a:lstStyle/>
          <a:p>
            <a:pPr algn="ctr" indent="0" marL="0">
              <a:buNone/>
            </a:pPr>
            <a:r>
              <a:rPr lang="en-US" sz="1100" dirty="0">
                <a:solidFill>
                  <a:srgbClr val="1C1C1C"/>
                </a:solidFill>
                <a:latin typeface="Atkinson Hyperlegible" pitchFamily="34" charset="0"/>
                <a:ea typeface="Atkinson Hyperlegible" pitchFamily="34" charset="-122"/>
                <a:cs typeface="Atkinson Hyperlegible" pitchFamily="34" charset="-120"/>
              </a:rPr>
              <a:t>Section Divider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Women Report Higher Anxiety Than Men in This Sample</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Anxiety Scores Climb as Sleep Quality Worsens</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Depression Follows the Same Gradient, but More Gently</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011680"/>
            <a:ext cx="10789920" cy="1097280"/>
          </a:xfrm>
          <a:prstGeom prst="rect">
            <a:avLst/>
          </a:prstGeom>
          <a:noFill/>
          <a:ln/>
        </p:spPr>
        <p:txBody>
          <a:bodyPr wrap="square" rtlCol="0" anchor="ctr"/>
          <a:lstStyle/>
          <a:p>
            <a:pPr algn="ctr" indent="0" marL="0">
              <a:buNone/>
            </a:pPr>
            <a:r>
              <a:rPr lang="en-US" sz="2800" b="1" dirty="0">
                <a:solidFill>
                  <a:srgbClr val="E07A5F"/>
                </a:solidFill>
                <a:latin typeface="Atkinson Hyperlegible" pitchFamily="34" charset="0"/>
                <a:ea typeface="Atkinson Hyperlegible" pitchFamily="34" charset="-122"/>
                <a:cs typeface="Atkinson Hyperlegible" pitchFamily="34" charset="-120"/>
              </a:rPr>
              <a:t>Impact and Daytime Function</a:t>
            </a:r>
            <a:endParaRPr lang="en-US" sz="2800" dirty="0"/>
          </a:p>
        </p:txBody>
      </p:sp>
      <p:sp>
        <p:nvSpPr>
          <p:cNvPr id="3" name="Text 1"/>
          <p:cNvSpPr/>
          <p:nvPr/>
        </p:nvSpPr>
        <p:spPr>
          <a:xfrm>
            <a:off x="548640" y="3246120"/>
            <a:ext cx="10789920" cy="0"/>
          </a:xfrm>
          <a:prstGeom prst="rect">
            <a:avLst/>
          </a:prstGeom>
          <a:noFill/>
          <a:ln/>
        </p:spPr>
        <p:txBody>
          <a:bodyPr wrap="square" rtlCol="0" anchor="ctr"/>
          <a:lstStyle/>
          <a:p>
            <a:pPr algn="ctr" indent="0" marL="0">
              <a:buNone/>
            </a:pPr>
            <a:r>
              <a:rPr lang="en-US" sz="1100" dirty="0">
                <a:solidFill>
                  <a:srgbClr val="1C1C1C"/>
                </a:solidFill>
                <a:latin typeface="Atkinson Hyperlegible" pitchFamily="34" charset="0"/>
                <a:ea typeface="Atkinson Hyperlegible" pitchFamily="34" charset="-122"/>
                <a:cs typeface="Atkinson Hyperlegible" pitchFamily="34" charset="-120"/>
              </a:rPr>
              <a:t>Section Divider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Sleep Problems Become More Common as Stress Levels Rise</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Among People With Sleep Problems, Energy Is the Most Consistently Affected Domain</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Filtered: problem = 1 · 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1C1C1C"/>
                </a:solidFill>
                <a:latin typeface="Atkinson Hyperlegible" pitchFamily="34" charset="0"/>
                <a:ea typeface="Atkinson Hyperlegible" pitchFamily="34" charset="-122"/>
                <a:cs typeface="Atkinson Hyperlegible" pitchFamily="34" charset="-120"/>
              </a:rPr>
              <a:t>Daytime Sleepiness Appears Across All Ages, With a Mild Peak in Older Adults</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tkinson Hyperlegible" pitchFamily="34" charset="0"/>
                <a:ea typeface="Atkinson Hyperlegible" pitchFamily="34" charset="-122"/>
                <a:cs typeface="Atkinson Hyperlegible" pitchFamily="34" charset="-120"/>
              </a:rPr>
              <a:t>N = 271 Respondents</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2026-03-13T14:28:27Z</dcterms:created>
  <dcterms:modified xsi:type="dcterms:W3CDTF">2026-03-13T14:28:27Z</dcterms:modified>
</cp:coreProperties>
</file>