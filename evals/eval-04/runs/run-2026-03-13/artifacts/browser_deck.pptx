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E07A5F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tkinson Hyperlegible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07A5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1C1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F46E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very poor, poor</c:v>
                  </c:pt>
                  <c:pt idx="1">
                    <c:v>fair</c:v>
                  </c:pt>
                  <c:pt idx="2">
                    <c:v>good</c:v>
                  </c:pt>
                  <c:pt idx="3">
                    <c:v>very good, excellent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13.432835820895523</c:v>
                </c:pt>
                <c:pt idx="1">
                  <c:v>27.985074626865668</c:v>
                </c:pt>
                <c:pt idx="2">
                  <c:v>33.582089552238806</c:v>
                </c:pt>
                <c:pt idx="3">
                  <c:v>25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33333"/>
                  </a:solidFill>
                  <a:latin typeface="Atkinson Hyperlegible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rgbClr val="E07A5F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tkinson Hyperlegible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very poor, poor</c:v>
                  </c:pt>
                  <c:pt idx="1">
                    <c:v>fair</c:v>
                  </c:pt>
                  <c:pt idx="2">
                    <c:v>good</c:v>
                  </c:pt>
                  <c:pt idx="3">
                    <c:v>very good, excellent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12.666666666666668</c:v>
                </c:pt>
                <c:pt idx="1">
                  <c:v>28.666666666666668</c:v>
                </c:pt>
                <c:pt idx="2">
                  <c:v>38</c:v>
                </c:pt>
                <c:pt idx="3">
                  <c:v>20.666666666666668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rgbClr val="1C1C1C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tkinson Hyperlegible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very poor, poor</c:v>
                  </c:pt>
                  <c:pt idx="1">
                    <c:v>fair</c:v>
                  </c:pt>
                  <c:pt idx="2">
                    <c:v>good</c:v>
                  </c:pt>
                  <c:pt idx="3">
                    <c:v>very good, excellent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14.40677966101695</c:v>
                </c:pt>
                <c:pt idx="1">
                  <c:v>27.11864406779661</c:v>
                </c:pt>
                <c:pt idx="2">
                  <c:v>27.966101694915253</c:v>
                </c:pt>
                <c:pt idx="3">
                  <c:v>30.508474576271187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33333"/>
                  </a:solidFill>
                  <a:latin typeface="Atkinson Hyperlegible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&lt;= 37</c:v>
                </c:pt>
              </c:strCache>
            </c:strRef>
          </c:tx>
          <c:spPr>
            <a:solidFill>
              <a:srgbClr val="E07A5F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tkinson Hyperlegible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very poor, poor</c:v>
                  </c:pt>
                  <c:pt idx="1">
                    <c:v>fair</c:v>
                  </c:pt>
                  <c:pt idx="2">
                    <c:v>good</c:v>
                  </c:pt>
                  <c:pt idx="3">
                    <c:v>very good, excellent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9.75609756097561</c:v>
                </c:pt>
                <c:pt idx="1">
                  <c:v>21.951219512195124</c:v>
                </c:pt>
                <c:pt idx="2">
                  <c:v>39.02439024390244</c:v>
                </c:pt>
                <c:pt idx="3">
                  <c:v>29.268292682926827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38 - 50</c:v>
                </c:pt>
              </c:strCache>
            </c:strRef>
          </c:tx>
          <c:spPr>
            <a:solidFill>
              <a:srgbClr val="1C1C1C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tkinson Hyperlegible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very poor, poor</c:v>
                  </c:pt>
                  <c:pt idx="1">
                    <c:v>fair</c:v>
                  </c:pt>
                  <c:pt idx="2">
                    <c:v>good</c:v>
                  </c:pt>
                  <c:pt idx="3">
                    <c:v>very good, excellent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11.627906976744185</c:v>
                </c:pt>
                <c:pt idx="1">
                  <c:v>25.581395348837212</c:v>
                </c:pt>
                <c:pt idx="2">
                  <c:v>39.53488372093023</c:v>
                </c:pt>
                <c:pt idx="3">
                  <c:v>23.25581395348837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51+</c:v>
                </c:pt>
              </c:strCache>
            </c:strRef>
          </c:tx>
          <c:spPr>
            <a:solidFill>
              <a:srgbClr val="4F46E5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tkinson Hyperlegible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very poor, poor</c:v>
                  </c:pt>
                  <c:pt idx="1">
                    <c:v>fair</c:v>
                  </c:pt>
                  <c:pt idx="2">
                    <c:v>good</c:v>
                  </c:pt>
                  <c:pt idx="3">
                    <c:v>very good, excellent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16.666666666666664</c:v>
                </c:pt>
                <c:pt idx="1">
                  <c:v>38.46153846153847</c:v>
                </c:pt>
                <c:pt idx="2">
                  <c:v>24.358974358974358</c:v>
                </c:pt>
                <c:pt idx="3">
                  <c:v>20.51282051282051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33333"/>
                  </a:solidFill>
                  <a:latin typeface="Atkinson Hyperlegible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primary school</c:v>
                </c:pt>
              </c:strCache>
            </c:strRef>
          </c:tx>
          <c:spPr>
            <a:solidFill>
              <a:srgbClr val="E07A5F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tkinson Hyperlegible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very poor, poor</c:v>
                  </c:pt>
                  <c:pt idx="1">
                    <c:v>fair</c:v>
                  </c:pt>
                  <c:pt idx="2">
                    <c:v>good</c:v>
                  </c:pt>
                  <c:pt idx="3">
                    <c:v>very good, excellent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33.33333333333333</c:v>
                </c:pt>
                <c:pt idx="1">
                  <c:v>33.33333333333333</c:v>
                </c:pt>
                <c:pt idx="2">
                  <c:v>0</c:v>
                </c:pt>
                <c:pt idx="3">
                  <c:v>33.33333333333333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secondary school</c:v>
                </c:pt>
              </c:strCache>
            </c:strRef>
          </c:tx>
          <c:spPr>
            <a:solidFill>
              <a:srgbClr val="1C1C1C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tkinson Hyperlegible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very poor, poor</c:v>
                  </c:pt>
                  <c:pt idx="1">
                    <c:v>fair</c:v>
                  </c:pt>
                  <c:pt idx="2">
                    <c:v>good</c:v>
                  </c:pt>
                  <c:pt idx="3">
                    <c:v>very good, excellent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18.181818181818183</c:v>
                </c:pt>
                <c:pt idx="1">
                  <c:v>27.27272727272727</c:v>
                </c:pt>
                <c:pt idx="2">
                  <c:v>30.303030303030305</c:v>
                </c:pt>
                <c:pt idx="3">
                  <c:v>24.242424242424242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trade training/ post secondary training</c:v>
                </c:pt>
              </c:strCache>
            </c:strRef>
          </c:tx>
          <c:spPr>
            <a:solidFill>
              <a:srgbClr val="4F46E5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tkinson Hyperlegible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very poor, poor</c:v>
                  </c:pt>
                  <c:pt idx="1">
                    <c:v>fair</c:v>
                  </c:pt>
                  <c:pt idx="2">
                    <c:v>good</c:v>
                  </c:pt>
                  <c:pt idx="3">
                    <c:v>very good, excellent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16.666666666666664</c:v>
                </c:pt>
                <c:pt idx="1">
                  <c:v>33.33333333333333</c:v>
                </c:pt>
                <c:pt idx="2">
                  <c:v>33.33333333333333</c:v>
                </c:pt>
                <c:pt idx="3">
                  <c:v>16.666666666666664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undergraduate degree</c:v>
                </c:pt>
              </c:strCache>
            </c:strRef>
          </c:tx>
          <c:spPr>
            <a:solidFill>
              <a:srgbClr val="10B981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tkinson Hyperlegible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very poor, poor</c:v>
                  </c:pt>
                  <c:pt idx="1">
                    <c:v>fair</c:v>
                  </c:pt>
                  <c:pt idx="2">
                    <c:v>good</c:v>
                  </c:pt>
                  <c:pt idx="3">
                    <c:v>very good, excellent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8.450704225352112</c:v>
                </c:pt>
                <c:pt idx="1">
                  <c:v>29.577464788732392</c:v>
                </c:pt>
                <c:pt idx="2">
                  <c:v>40.845070422535215</c:v>
                </c:pt>
                <c:pt idx="3">
                  <c:v>21.12676056338028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postgraduate degree</c:v>
                </c:pt>
              </c:strCache>
            </c:strRef>
          </c:tx>
          <c:spPr>
            <a:solidFill>
              <a:srgbClr val="F59E0B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tkinson Hyperlegible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very poor, poor</c:v>
                  </c:pt>
                  <c:pt idx="1">
                    <c:v>fair</c:v>
                  </c:pt>
                  <c:pt idx="2">
                    <c:v>good</c:v>
                  </c:pt>
                  <c:pt idx="3">
                    <c:v>very good, excellent</c:v>
                  </c:pt>
                </c:lvl>
              </c:multiLvlStrCache>
            </c:multiLvl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13.953488372093023</c:v>
                </c:pt>
                <c:pt idx="1">
                  <c:v>25.581395348837212</c:v>
                </c:pt>
                <c:pt idx="2">
                  <c:v>31.007751937984494</c:v>
                </c:pt>
                <c:pt idx="3">
                  <c:v>29.457364341085274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33333"/>
                  </a:solidFill>
                  <a:latin typeface="Atkinson Hyperlegible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single</c:v>
                </c:pt>
              </c:strCache>
            </c:strRef>
          </c:tx>
          <c:spPr>
            <a:solidFill>
              <a:srgbClr val="E07A5F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tkinson Hyperlegible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no</c:v>
                  </c:pt>
                  <c:pt idx="1">
                    <c:v>yes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55.55555555555556</c:v>
                </c:pt>
                <c:pt idx="1">
                  <c:v>44.44444444444444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married/defacto</c:v>
                </c:pt>
              </c:strCache>
            </c:strRef>
          </c:tx>
          <c:spPr>
            <a:solidFill>
              <a:srgbClr val="1C1C1C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tkinson Hyperlegible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no</c:v>
                  </c:pt>
                  <c:pt idx="1">
                    <c:v>yes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55.85106382978723</c:v>
                </c:pt>
                <c:pt idx="1">
                  <c:v>44.148936170212764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divorced</c:v>
                </c:pt>
              </c:strCache>
            </c:strRef>
          </c:tx>
          <c:spPr>
            <a:solidFill>
              <a:srgbClr val="4F46E5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tkinson Hyperlegible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no</c:v>
                  </c:pt>
                  <c:pt idx="1">
                    <c:v>yes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66.66666666666666</c:v>
                </c:pt>
                <c:pt idx="1">
                  <c:v>33.33333333333333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widowed</c:v>
                </c:pt>
              </c:strCache>
            </c:strRef>
          </c:tx>
          <c:spPr>
            <a:solidFill>
              <a:srgbClr val="10B981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tkinson Hyperlegible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no</c:v>
                  </c:pt>
                  <c:pt idx="1">
                    <c:v>yes</c:v>
                  </c:pt>
                </c:lvl>
              </c:multiLvlStrCache>
            </c:multiLvl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50</c:v>
                </c:pt>
                <c:pt idx="1">
                  <c:v>50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33333"/>
                  </a:solidFill>
                  <a:latin typeface="Atkinson Hyperlegible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Sleep Quality by Demographics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Overall Sleep Quality</a:t>
            </a:r>
            <a:endParaRPr lang="en-US" sz="1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914400"/>
          <a:ext cx="11247120" cy="5486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Sleep Quality by Sex</a:t>
            </a:r>
            <a:endParaRPr lang="en-US" sz="1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914400"/>
          <a:ext cx="11247120" cy="5486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Sleep Quality by Age Group</a:t>
            </a:r>
            <a:endParaRPr lang="en-US" sz="1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914400"/>
          <a:ext cx="11247120" cy="5486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Sleep Quality by Education Level</a:t>
            </a:r>
            <a:endParaRPr lang="en-US" sz="1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914400"/>
          <a:ext cx="11247120" cy="5486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Sleep Problems by Marital Status</a:t>
            </a:r>
            <a:endParaRPr lang="en-US" sz="1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914400"/>
          <a:ext cx="11247120" cy="5486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2026-03-13T19:43:52Z</dcterms:created>
  <dcterms:modified xsi:type="dcterms:W3CDTF">2026-03-13T19:43:52Z</dcterms:modified>
</cp:coreProperties>
</file>