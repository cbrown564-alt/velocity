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Standing client question: is Atlas getting healthier, and what is moving it? Base: all category buyers (n=1,200), weighted to national profile (design effect ≈ 1.12). Brands shown: Atlas (client), Beacon, Meridian, Solstice, Cardinal.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SCR. Situation: Atlas entered Q2 as the category #3, health flat across three waves. Complication: this wave unaided awareness jumped and Beacon overtook the legacy leader on consideration. Resolution: the gain is real and at the top of the funnel — the play is converting Growth-segment awareness, not more reach.
Takeaways: (1) Aided awareness +6pts to 73%, first significant gain in four waves. (2) The gain is top-of-funnel: unaided +6pts, conversion flat. (3) Beacon overtook Meridian on consideration for the first time in four waves. (4) The awareness gain concentrates in the Growth segment (+13pts) and under-35s.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Aided awareness 72.7% (W4) vs 66.8% (W3), +5.9pts, z=2.96, p=0.003 — significant. The composite brand-health index (aided awareness, consideration T2B, P3M usage) rose 4.3pts to 42 over the same period (p=0.003), reversing three broadly flat waves.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Consideration top-two-box (of total base) 37.7% (W4) vs 33.2% (W3), +4.5pts, z=2.18, p=0.029 — significant. Moves in step with the awareness gain rather than ahead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Unaided (any-mention) awareness 36.5% (W4) vs 30.8% (W3), +5.7pts, z=2.81, p=0.005 — significant. This is the biggest funnel mover and locates the story at the top of the funnel.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Awareness→consideration conversion 53.1% (W4) vs 51.1% (W3), +2.0pts, z=0.77, p=0.44 — not significant. Consideration grew because more people are aware, not because aware buyers are converting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Past-3-month usage 14.9% (W4) vs 12.4% (W3), +2.4pts, z=1.64, p=0.10 — not significant. Stated as "broadly stable": the upper-funnel gain has not yet converted to 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Beacon consideration T2B (of total) 41.7% vs Meridian 38.5% in W4. Across the history Meridian led (W1 41.6 vs 32.7; W3 40.8 vs 35.6); W4 is the first wave Beacon leads. Beacon is now the challenger to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Weighted first-choice preference: Meridian 24.9%, Beacon 24.8%, Atlas 19.5%, Solstice 8.4%, Cardinal 6.1%. Preference movement this wave is within margin of error; the competitive story is consideration, not preference.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"Is innovative" agreement (T2B, of answering) 37.0% (W4) vs 30.4% (W3), +6.7pts, z=2.70, p=0.007 — significant, and the only attribute that moved. Tracks the awareness gain; stated as a likely driver (correlation, not proven causation). Top-two-box net derived via recode from the 1–5 scale (DK excluded).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Defensibility guard. "Is worth the price" agreement 35.3% (W4) vs 37.2% (W3), −1.9pts, z=−0.74, p=0.46 — not significant. Titled "broadly stable" to avoid claiming a decline the test does not support. Top-two-box net derived via recode from the 1–5 scale (DK excluded).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Advertising recall 26.4% (W4) vs 19.0% (W3), +7.4pts, z=4.06, p&lt;0.001 — significant. Consistent with media activity behind the awareness and "innovative"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Unaided awareness by attitudinal segment: Growth 46.2% (from 32.8%, +13.4pts, p&lt;0.001) — the only significant segment divergence. Core 32.2% (+0.4, n.s.) and Value 27.7% (+1.4, n.s.) are flat. This is the one segment cut that changes the recommended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Unaided awareness by age band: 18–34 42.0% (from 33.1%, +8.9pts, p=0.006) — significant. 35–54 36.1% (+5.1, p=0.10) and 55+ 31.9% (+3.5, n.s.) held steady. The gain skews young, aligning with the Growth-segment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Human-authored. Ties to: (a) top-of-funnel gain with flat conversion (funnel section) and (b) the Growth / under-35 awareness divergence (segment section). Action: move Q3 spend from reach to conversion — sampling, trial offers, and activation targeting Growth-segment under-35s. Recommendation is flagged for human confirmation, not auto-generated.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consideration scale distribution (weighted % and counts). Top-two-box (codes 4–5) = 37.7% of total base; DK (98) and structural missing excluded from the "of answering" conversion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 / low-base flag. Atlas NPS +7 (W4) vs −2 (W3), +9.7pts, z=1.15, p=0.25 — not significant on n≈189 users. Directional only; do not report as a confirmed improvement. (NPS score = %promoters 9–10 minus %detractors 0–6.)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Method. Weighting: rim weight (age band × gender × region) to national margins; mean weight ≈ 1.0, design effect ≈ 1.12; significance = two-proportion z-test on Kish effective bases (α=0.05). Recipe (raw agency wave → analysis-ready): 1) load raw wave alongside W1–W3; 2) identify the true weight (rim_wt_final, not the body-weight decoy); 3) map renamed attribute variables (att_value_* → att_worth_*); 4) fix the reversed consideration scale; 5) derive age_band (18–34/35–54/55+); 6) derive consideration T2B; 7) derive NPS classes; 8) run weighted crosstabs with significance; 9) build/export/commit deck and export session; 10) next quarter, swap in wave 5 via the saved slide recipes. Synthetic dataset, designed to exercise the significance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Chilled-Coffee Brand Tracker — Wave 4 Client Readout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chilled-coffee brand tracker: Wave 4 readout (2026-Q2, n=1,200, weighted)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13–26 Apr 2026 · category buyers, past 3 months · rim-weighted to national age × gender × region.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health is up and top-of-funnel; Beacon now leads Meridian on consideration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Meridian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Beacon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Solstice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health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aided awareness rose 6pts to 73%, its first significant gain in four waves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vs 67% in W3 (2026-Q1); +5.9pts, significant at 95%.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 climbed 5pts to 38% of the market, tracking the awareness gain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Top-two-box vs 33% in W3; +4.5pts, significant at 95%.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Don't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funnel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gain is at the top: unaided awareness jumped 6pts to 37%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vs 31% in W3; +5.7pts, significant at 95%.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mentioned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Mentioned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Awareness-to-consideration conversion held flat near 53%, so the lift is reach not persuasion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Conversion among aware: 53% vs 51% in W3; change not significant.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Don't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is broadly stable at 15%, so the new interest has yet to reach trial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vs 12% in W3; +2.4pts, within margin of error.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bought/drunk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 overtook Meridian on consideration for the first time in four waves, at 42%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Beacon 42% vs Meridian 39% consideration T2B; Meridian led W1–W3.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Don't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 and Meridian lead preference near 25%, with Atlas third at 20%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Meridian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Beacon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Solstice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'Innovative' associations rose 7pts to 37%, likely fuelling Atlas's awareness gain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Agree (T2B) vs 30% in W3; +6.7pts, significant at 95%.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top-two-box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(top-two-box)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'Worth the price' is broadly stable at 35%, within margin of error versus Q1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Agree (T2B) vs 37% in W3; −1.9pts, not significant.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top-two-box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(top-two-box)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recall jumped 7pts to 26%, consistent with the awareness and innovation gains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vs 19% in W3; +7.4pts, significant at 95%.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differences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Atlas's awareness gain is concentrated in the Growth segment, up 13pts to 46%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Growth +13.4pts (significant); Core and Value flat.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981200"/>
                <a:gridCol w="1981200"/>
                <a:gridCol w="1981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mentioned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67.8%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53.8%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72.3%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Mentioned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32.2%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46.2%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27.7%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Under-35s drove the gain, up 9pts to 42%; older buyers held steady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18–34 +8.9pts (significant); 35–54 and 55+ not significant.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981200"/>
                <a:gridCol w="1981200"/>
                <a:gridCol w="1981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35-54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mentioned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58.0%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Mentioned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42.0%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Growth's new awareness: shift Q3 activation and trial offers to under-35s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— supported by the funnel (flat conversion) and segment slides.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981200"/>
                <a:gridCol w="1981200"/>
                <a:gridCol w="1981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38.9%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23.4%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19.2% 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Don't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Atlas consideration distribution and top-two-box base, Wave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51960"/>
                <a:gridCol w="4251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284.0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(33.4%)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might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184.4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(21.7%)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168.1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(19.8%)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130.5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(15.3%)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83.9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(9.9%)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Don't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(0.0%)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Atlas NPS rose to +7 on a low base (n=189 users) — read directionally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Asked of Atlas past-3-month users only; unweighted base n=189.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Extremely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method, weighting, and the raw-to-analysis-ready transformation recipe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Weighted to national age × gender × region; design effect ≈ 1.12.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51960"/>
                <a:gridCol w="4251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360.0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(30.0%)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35-54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456.0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(38.0%)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456.0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384.0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(32.0%)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2026-09-23T21:15:37Z</dcterms:created>
  <dcterms:modified xsi:type="dcterms:W3CDTF">2026-09-23T21:15:37Z</dcterms:modified>
</cp:coreProperties>
</file>